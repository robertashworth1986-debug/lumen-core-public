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f94071d9a5743ab" /><Relationship Type="http://schemas.openxmlformats.org/officeDocument/2006/relationships/extended-properties" Target="/docProps/app.xml" Id="R5f29c66cabb94f84" /><Relationship Type="http://schemas.openxmlformats.org/officeDocument/2006/relationships/officeDocument" Target="/ppt/presentation.xml" Id="R7fb856a856cd4f7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bbf0951a39b426b"/>
  </p:sldMasterIdLst>
  <p:notesMasterIdLst>
    <p:notesMasterId xmlns:r="http://schemas.openxmlformats.org/officeDocument/2006/relationships" r:id="R273e985b69c34b0a"/>
  </p:notesMasterIdLst>
  <p:sldIdLst>
    <p:sldId xmlns:r="http://schemas.openxmlformats.org/officeDocument/2006/relationships" id="256" r:id="Rdadc57db2bca49eb"/>
    <p:sldId xmlns:r="http://schemas.openxmlformats.org/officeDocument/2006/relationships" id="257" r:id="R7ac008c5da79495f"/>
    <p:sldId xmlns:r="http://schemas.openxmlformats.org/officeDocument/2006/relationships" id="258" r:id="R97347453fcc247bb"/>
    <p:sldId xmlns:r="http://schemas.openxmlformats.org/officeDocument/2006/relationships" id="259" r:id="R895529d74e6d47d7"/>
    <p:sldId xmlns:r="http://schemas.openxmlformats.org/officeDocument/2006/relationships" id="260" r:id="R13906c2a4cca464d"/>
    <p:sldId xmlns:r="http://schemas.openxmlformats.org/officeDocument/2006/relationships" id="261" r:id="R6a054ab133ed4f19"/>
    <p:sldId xmlns:r="http://schemas.openxmlformats.org/officeDocument/2006/relationships" id="262" r:id="Ra329776b3e2243fc"/>
    <p:sldId xmlns:r="http://schemas.openxmlformats.org/officeDocument/2006/relationships" id="263" r:id="R14b8cff6d57e4142"/>
    <p:sldId xmlns:r="http://schemas.openxmlformats.org/officeDocument/2006/relationships" id="264" r:id="R3ca30f9d6d7f4d16"/>
    <p:sldId xmlns:r="http://schemas.openxmlformats.org/officeDocument/2006/relationships" id="265" r:id="R2b2c2f7f152b49ae"/>
    <p:sldId xmlns:r="http://schemas.openxmlformats.org/officeDocument/2006/relationships" id="266" r:id="R670ee68b72da408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b9173f06d614257" /><Relationship Type="http://schemas.openxmlformats.org/officeDocument/2006/relationships/slideMaster" Target="/ppt/slideMasters/slideMaster1.xml" Id="R8bbf0951a39b426b" /><Relationship Type="http://schemas.openxmlformats.org/officeDocument/2006/relationships/notesMaster" Target="/ppt/notesMasters/notesMaster1.xml" Id="R273e985b69c34b0a" /><Relationship Type="http://schemas.openxmlformats.org/officeDocument/2006/relationships/presProps" Target="/ppt/presProps.xml" Id="Rdbf61cc5603f4256" /><Relationship Type="http://schemas.openxmlformats.org/officeDocument/2006/relationships/tableStyles" Target="/ppt/tableStyles.xml" Id="R471dfd4c80ec4183" /><Relationship Type="http://schemas.openxmlformats.org/officeDocument/2006/relationships/slide" Target="/ppt/slides/slide1.xml" Id="Rdadc57db2bca49eb" /><Relationship Type="http://schemas.openxmlformats.org/officeDocument/2006/relationships/slide" Target="/ppt/slides/slide2.xml" Id="R7ac008c5da79495f" /><Relationship Type="http://schemas.openxmlformats.org/officeDocument/2006/relationships/slide" Target="/ppt/slides/slide3.xml" Id="R97347453fcc247bb" /><Relationship Type="http://schemas.openxmlformats.org/officeDocument/2006/relationships/slide" Target="/ppt/slides/slide4.xml" Id="R895529d74e6d47d7" /><Relationship Type="http://schemas.openxmlformats.org/officeDocument/2006/relationships/slide" Target="/ppt/slides/slide5.xml" Id="R13906c2a4cca464d" /><Relationship Type="http://schemas.openxmlformats.org/officeDocument/2006/relationships/slide" Target="/ppt/slides/slide6.xml" Id="R6a054ab133ed4f19" /><Relationship Type="http://schemas.openxmlformats.org/officeDocument/2006/relationships/slide" Target="/ppt/slides/slide7.xml" Id="Ra329776b3e2243fc" /><Relationship Type="http://schemas.openxmlformats.org/officeDocument/2006/relationships/slide" Target="/ppt/slides/slide8.xml" Id="R14b8cff6d57e4142" /><Relationship Type="http://schemas.openxmlformats.org/officeDocument/2006/relationships/slide" Target="/ppt/slides/slide9.xml" Id="R3ca30f9d6d7f4d16" /><Relationship Type="http://schemas.openxmlformats.org/officeDocument/2006/relationships/slide" Target="/ppt/slides/slide10.xml" Id="R2b2c2f7f152b49ae" /><Relationship Type="http://schemas.openxmlformats.org/officeDocument/2006/relationships/slide" Target="/ppt/slides/slide11.xml" Id="R670ee68b72da408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4a04e4152d1468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90aec3df22f4d02" /><Relationship Type="http://schemas.openxmlformats.org/officeDocument/2006/relationships/notesMaster" Target="/ppt/notesMasters/notesMaster1.xml" Id="Rc4c05517017d4e7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c5d57f8b0394b1b" /><Relationship Type="http://schemas.openxmlformats.org/officeDocument/2006/relationships/notesMaster" Target="/ppt/notesMasters/notesMaster1.xml" Id="R90e26edd4a0f474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439bb59123c452e" /><Relationship Type="http://schemas.openxmlformats.org/officeDocument/2006/relationships/notesMaster" Target="/ppt/notesMasters/notesMaster1.xml" Id="R92d9271e35f8413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164f3c6afc44eb1" /><Relationship Type="http://schemas.openxmlformats.org/officeDocument/2006/relationships/notesMaster" Target="/ppt/notesMasters/notesMaster1.xml" Id="R35079f6c108d46a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85fdda7e0c24845" /><Relationship Type="http://schemas.openxmlformats.org/officeDocument/2006/relationships/notesMaster" Target="/ppt/notesMasters/notesMaster1.xml" Id="R099b1c08d3d84a0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8fce053a87a4fdb" /><Relationship Type="http://schemas.openxmlformats.org/officeDocument/2006/relationships/notesMaster" Target="/ppt/notesMasters/notesMaster1.xml" Id="Re97025f3a261478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4ec29b7865b4412" /><Relationship Type="http://schemas.openxmlformats.org/officeDocument/2006/relationships/notesMaster" Target="/ppt/notesMasters/notesMaster1.xml" Id="R00daa9de496241e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a7113f284ed47cb" /><Relationship Type="http://schemas.openxmlformats.org/officeDocument/2006/relationships/notesMaster" Target="/ppt/notesMasters/notesMaster1.xml" Id="Re8628c28a0d946c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c9644bd8a7440e9" /><Relationship Type="http://schemas.openxmlformats.org/officeDocument/2006/relationships/notesMaster" Target="/ppt/notesMasters/notesMaster1.xml" Id="R5199bea9e93e45f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a9d9aa0f4eb4c6a" /><Relationship Type="http://schemas.openxmlformats.org/officeDocument/2006/relationships/notesMaster" Target="/ppt/notesMasters/notesMaster1.xml" Id="R8a57535ac5c2498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4bff25c3f7344fd" /><Relationship Type="http://schemas.openxmlformats.org/officeDocument/2006/relationships/notesMaster" Target="/ppt/notesMasters/notesMaster1.xml" Id="R59d511a9c07945c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docs/LUMENCORE_SOURCE_NATIVE_BENCHMARK_WHITEPAPER_CURRENT.md</a:t>
            </a:r>
          </a:p>
          <a:p xmlns:a="http://schemas.openxmlformats.org/drawingml/2006/main">
            <a:r>
              <a:t>- Local: config/prooflock_opportunity_ops_pilot_v1.json</a:t>
            </a:r>
          </a:p>
          <a:p xmlns:a="http://schemas.openxmlformats.org/drawingml/2006/main">
            <a:r>
              <a:t>- Boundary: current software and protocol evidence; no external performance claim.</a:t>
            </a:r>
          </a:p>
          <a:p xmlns:a="http://schemas.openxmlformats.org/drawingml/2006/main">
            <a:r>
              <a:t>
[Sources]
- dashboard/proof_to_pilot.html
- Internal product screenshot and workflow framing; no field-performance claim.
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config/federal_reviewer_objection_register_v1.json</a:t>
            </a:r>
          </a:p>
          <a:p xmlns:a="http://schemas.openxmlformats.org/drawingml/2006/main">
            <a:r>
              <a:t>- Local: config/prooflock_opportunity_ops_pilot_v1.json</a:t>
            </a:r>
          </a:p>
          <a:p xmlns:a="http://schemas.openxmlformats.org/drawingml/2006/main">
            <a:r>
              <a:t>- The trust-break framing is an internal operating hypothesis, not a market statistic.</a:t>
            </a:r>
          </a:p>
          <a:p xmlns:a="http://schemas.openxmlformats.org/drawingml/2006/main">
            <a:r>
              <a:t>
[Sources]
- config/federal_reviewer_objection_register_v1.json
- Internal evidence-gating problem definition.
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config/prooflock_opportunity_ops_pilot_v1.json</a:t>
            </a:r>
          </a:p>
          <a:p xmlns:a="http://schemas.openxmlformats.org/drawingml/2006/main">
            <a:r>
              <a:t>- Local: out/ops/prooflock_opportunity_ops_pilot/latest/prooflock_opportunity_ops_pilot_definition.json</a:t>
            </a:r>
          </a:p>
          <a:p xmlns:a="http://schemas.openxmlformats.org/drawingml/2006/main">
            <a:r>
              <a:t>
[Sources]
- config/noahs_proof_chain_v1.json
- Internal freeze, replay, gate, and receipt workflow.
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config/prooflock_opportunity_ops_pilot_v1.json</a:t>
            </a:r>
          </a:p>
          <a:p xmlns:a="http://schemas.openxmlformats.org/drawingml/2006/main">
            <a:r>
              <a:t>- Target sectors and buyer roles are positioning hypotheses; no customer adoption is claimed.</a:t>
            </a:r>
          </a:p>
          <a:p xmlns:a="http://schemas.openxmlformats.org/drawingml/2006/main">
            <a:r>
              <a:t>
[Sources]
- code/ops/BUILD_FIRST_BUYER_TARGET_BOARD.py
- Internal customer hypothesis; not market validation.
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out/ops/source_native_family_baseline_ledger_latest.json</a:t>
            </a:r>
          </a:p>
          <a:p xmlns:a="http://schemas.openxmlformats.org/drawingml/2006/main">
            <a:r>
              <a:t>- Local: out/ops/market_signal_source_native_benchmark_latest.json</a:t>
            </a:r>
          </a:p>
          <a:p xmlns:a="http://schemas.openxmlformats.org/drawingml/2006/main">
            <a:r>
              <a:t>- Local: config/time_series_source_native_prospective_protocol_v3.json</a:t>
            </a:r>
          </a:p>
          <a:p xmlns:a="http://schemas.openxmlformats.org/drawingml/2006/main">
            <a:r>
              <a:t>- Local: docs/TIME_SERIES_SOURCE_NATIVE_PROSPECTIVE_CUSTODY_V3_2026-08-02.md</a:t>
            </a:r>
          </a:p>
          <a:p xmlns:a="http://schemas.openxmlformats.org/drawingml/2006/main">
            <a:r>
              <a:t>- Local: out/ops/time_series_source_native_prospective_protocol_status.json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out/ops/source_native_family_baseline_ledger_latest.json</a:t>
            </a:r>
          </a:p>
          <a:p xmlns:a="http://schemas.openxmlformats.org/drawingml/2006/main">
            <a:r>
              <a:t>- out/ops/time_series_source_native_prospective_protocol_status.json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config/prooflock_opportunity_ops_pilot_v1.json</a:t>
            </a:r>
          </a:p>
          <a:p xmlns:a="http://schemas.openxmlformats.org/drawingml/2006/main">
            <a:r>
              <a:t>- Pricing is intentionally unquoted and requires buyer-specific founder approval.</a:t>
            </a:r>
          </a:p>
          <a:p xmlns:a="http://schemas.openxmlformats.org/drawingml/2006/main">
            <a:r>
              <a:t>
[Sources]
- code/ops/BUILD_PROOF_TO_REVENUE_ENGINE.py
- Proposed commercial path; not realized revenue.
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config/prooflock_opportunity_ops_pilot_v1.json</a:t>
            </a:r>
          </a:p>
          <a:p xmlns:a="http://schemas.openxmlformats.org/drawingml/2006/main">
            <a:r>
              <a:t>- Competitive placement is a positioning hypothesis; no market share or superiority claim.</a:t>
            </a:r>
          </a:p>
          <a:p xmlns:a="http://schemas.openxmlformats.org/drawingml/2006/main">
            <a:r>
              <a:t>
[Sources]
- code/ops/BUILD_INVESTOR_READY_BUSINESS_PLAN_20260703.py
- Internal positioning hypothesis.
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config/prooflock_opportunity_ops_pilot_v1.json</a:t>
            </a:r>
          </a:p>
          <a:p xmlns:a="http://schemas.openxmlformats.org/drawingml/2006/main">
            <a:r>
              <a:t>- Qualification gates are operating controls, not forecast conversion rates.</a:t>
            </a:r>
          </a:p>
          <a:p xmlns:a="http://schemas.openxmlformats.org/drawingml/2006/main">
            <a:r>
              <a:t>
[Sources]
- code/ops/BUILD_FIRST_BUYER_TARGET_BOARD.py
- Internal go-to-market sequence.
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config/prooflock_opportunity_ops_pilot_v1.json</a:t>
            </a:r>
          </a:p>
          <a:p xmlns:a="http://schemas.openxmlformats.org/drawingml/2006/main">
            <a:r>
              <a:t>- Local: out/ops/prooflock_opportunity_ops_pilot/latest/prooflock_opportunity_ops_pilot_definition.json</a:t>
            </a:r>
          </a:p>
          <a:p xmlns:a="http://schemas.openxmlformats.org/drawingml/2006/main">
            <a:r>
              <a:t>
[Sources]
- code/ops/BUILD_FIELD_VALIDATION_BUYER_PILOT_PACKET.py
- Proposed paid-pilot evidence contract.
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docs/LUMENCORE_SOURCE_NATIVE_BENCHMARK_WHITEPAPER_CURRENT.md</a:t>
            </a:r>
          </a:p>
          <a:p xmlns:a="http://schemas.openxmlformats.org/drawingml/2006/main">
            <a:r>
              <a:t>- Local: config/prooflock_opportunity_ops_pilot_v1.json</a:t>
            </a:r>
          </a:p>
          <a:p xmlns:a="http://schemas.openxmlformats.org/drawingml/2006/main">
            <a:r>
              <a:t>- No funding amount, valuation, dilution, or spend authorization is represented.</a:t>
            </a:r>
          </a:p>
          <a:p xmlns:a="http://schemas.openxmlformats.org/drawingml/2006/main">
            <a:r>
              <a:t>
[Sources]
- code/ops/BUILD_SOURCE_NATIVE_RESEARCH_WHITEPAPER.py
- Funding use is a proposed validation plan.
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docs/LUMENCORE_SOURCE_NATIVE_BENCHMARK_WHITEPAPER_CURRENT.md</a:t>
            </a:r>
          </a:p>
          <a:p xmlns:a="http://schemas.openxmlformats.org/drawingml/2006/main">
            <a:r>
              <a:t>- Local: config/prooflock_opportunity_ops_pilot_v1.json</a:t>
            </a:r>
          </a:p>
          <a:p xmlns:a="http://schemas.openxmlformats.org/drawingml/2006/main">
            <a:r>
              <a:t>- The ask is for a bounded validation relationship, not an external performance claim.</a:t>
            </a:r>
          </a:p>
          <a:p xmlns:a="http://schemas.openxmlformats.org/drawingml/2006/main">
            <a:r>
              <a:t>
[Sources]
- grant_submissions/funding_sprint_20260709/CURRENT_REVIEWER_FRONT_DOOR_2026-07-29.md
- Bounded ask and human release controls.
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00314e0b4c424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ccf021856764935" /><Relationship Type="http://schemas.openxmlformats.org/officeDocument/2006/relationships/slideLayout" Target="/ppt/slideLayouts/slideLayout1.xml" Id="R5b8aa4566d1940c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b8aa4566d1940c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e26fa04ce64fea" /><Relationship Type="http://schemas.openxmlformats.org/officeDocument/2006/relationships/image" Target="/ppt/media/image.png" Id="R5ec5d3ce3d08432f" /><Relationship Type="http://schemas.openxmlformats.org/officeDocument/2006/relationships/notesSlide" Target="/ppt/notesSlides/notesSlide1.xml" Id="R830893b8ea8d40a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7b7a0af3334286" /><Relationship Type="http://schemas.openxmlformats.org/officeDocument/2006/relationships/notesSlide" Target="/ppt/notesSlides/notesSlide2.xml" Id="Re870e87eee394c5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fa6e6aca824e20" /><Relationship Type="http://schemas.openxmlformats.org/officeDocument/2006/relationships/notesSlide" Target="/ppt/notesSlides/notesSlide3.xml" Id="R859f3d75164348c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dd596f8f8543b8" /><Relationship Type="http://schemas.openxmlformats.org/officeDocument/2006/relationships/notesSlide" Target="/ppt/notesSlides/notesSlide4.xml" Id="R023708848a2b40d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1a8c24c7de43ea" /><Relationship Type="http://schemas.openxmlformats.org/officeDocument/2006/relationships/notesSlide" Target="/ppt/notesSlides/notesSlide5.xml" Id="R4d090b5910484b2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ce442ad4aa4dde" /><Relationship Type="http://schemas.openxmlformats.org/officeDocument/2006/relationships/notesSlide" Target="/ppt/notesSlides/notesSlide6.xml" Id="R935a40278882454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3f47ae2d7748d6" /><Relationship Type="http://schemas.openxmlformats.org/officeDocument/2006/relationships/notesSlide" Target="/ppt/notesSlides/notesSlide7.xml" Id="R2a2c31aae44c415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3f3dd51c904f0a" /><Relationship Type="http://schemas.openxmlformats.org/officeDocument/2006/relationships/notesSlide" Target="/ppt/notesSlides/notesSlide8.xml" Id="Rabc100ef90fc4aa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a16579f145480f" /><Relationship Type="http://schemas.openxmlformats.org/officeDocument/2006/relationships/notesSlide" Target="/ppt/notesSlides/notesSlide9.xml" Id="R1ee84adbc68f49a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e73ca2e4414c80" /><Relationship Type="http://schemas.openxmlformats.org/officeDocument/2006/relationships/notesSlide" Target="/ppt/notesSlides/notesSlide10.xml" Id="Ra7f1f1e798784c1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771cbfac1146d5" /><Relationship Type="http://schemas.openxmlformats.org/officeDocument/2006/relationships/notesSlide" Target="/ppt/notesSlides/notesSlide11.xml" Id="R79d0f59bccd2418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0D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CF2042-1941-4401-8939-13D16BFDC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742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7F7A"/>
          </a:solidFill>
          <a:ln xmlns:a="http://schemas.openxmlformats.org/drawingml/2006/main" w="0">
            <a:solidFill>
              <a:srgbClr val="0A7F7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9C5697-FF34-46CA-8C8E-191BAB9C1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4000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LUMENCORE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05991D-EDAD-4BF8-8F1B-7DE62892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4953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Evidence-to-pilot infrastructure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for reviewable AI decisions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8972FF-BF9B-49AE-AF0A-3D8FEE5BC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62300"/>
            <a:ext cx="4762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CBD5D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CBD5DB"/>
                </a:solidFill>
                <a:latin typeface="Aptos"/>
                <a:ea typeface="Aptos"/>
                <a:cs typeface="Aptos"/>
              </a:rPr>
              <a:t>Turn a candidate method into a reproducible decision packet before any field or performance claim.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6FF3AA-C951-4D54-8D9F-B07FEED45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38650"/>
            <a:ext cx="12001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0A7F7A"/>
          </a:solidFill>
          <a:ln xmlns:a="http://schemas.openxmlformats.org/drawingml/2006/main" w="0">
            <a:solidFill>
              <a:srgbClr val="0A7F7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EB7453-5336-470B-9C47-63D99ECB5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3865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CURRENT REVIEW BUILD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4E093D-EB3D-41FC-BBDB-4CB43F153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438650"/>
            <a:ext cx="20002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6E9C8"/>
          </a:solidFill>
          <a:ln xmlns:a="http://schemas.openxmlformats.org/drawingml/2006/main" w="0">
            <a:solidFill>
              <a:srgbClr val="F6E9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F36CBD-85D7-42D5-B892-3265C5980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4386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B878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B87800"/>
                </a:solidFill>
                <a:latin typeface="Aptos"/>
                <a:ea typeface="Aptos"/>
                <a:cs typeface="Aptos"/>
              </a:rPr>
              <a:t>INDEPENDENT VALIDATION NEXT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EB11AA-54FF-4913-8BA3-C1E053D37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0"/>
            <a:ext cx="4095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AB5B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AB5BC"/>
                </a:solidFill>
                <a:latin typeface="Aptos"/>
                <a:ea typeface="Aptos"/>
                <a:cs typeface="Aptos"/>
              </a:rPr>
              <a:t>Robert Ashworth | Founder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AAB5B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AB5BC"/>
                </a:solidFill>
                <a:latin typeface="Aptos"/>
                <a:ea typeface="Aptos"/>
                <a:cs typeface="Aptos"/>
              </a:rPr>
              <a:t>LumenCore | 2026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C1C983-5C75-4B47-A720-4A3CABEA8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90550"/>
            <a:ext cx="5848350" cy="5238750"/>
          </a:xfrm>
          <a:prstGeom xmlns:a="http://schemas.openxmlformats.org/drawingml/2006/main" prst="roundRect">
            <a:avLst>
              <a:gd name="adj" fmla="val 1455"/>
            </a:avLst>
          </a:prstGeom>
          <a:solidFill xmlns:a="http://schemas.openxmlformats.org/drawingml/2006/main">
            <a:srgbClr val="20272C"/>
          </a:solidFill>
          <a:ln xmlns:a="http://schemas.openxmlformats.org/drawingml/2006/main" w="9525">
            <a:solidFill>
              <a:srgbClr val="3A454C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c5d3ce3d08432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2650" y="742950"/>
            <a:ext cx="5543550" cy="4933950"/>
          </a:xfrm>
          <a:prstGeom xmlns:a="http://schemas.openxmlformats.org/drawingml/2006/main" prst="roundRect">
            <a:avLst>
              <a:gd name="adj" fmla="val 1158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3B93E0-30B4-45D1-B3CB-EDDE5F454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905500"/>
            <a:ext cx="5448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AAB5BC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AB5BC"/>
                </a:solidFill>
                <a:latin typeface="Aptos"/>
                <a:ea typeface="Aptos"/>
                <a:cs typeface="Aptos"/>
              </a:rPr>
              <a:t>Local proof room snapshot | 2026-07-29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43A077-A356-4E6D-932C-F31E280CF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0557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AAB5BC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AAB5BC"/>
                </a:solidFill>
                <a:latin typeface="Aptos"/>
                <a:ea typeface="Aptos"/>
                <a:cs typeface="Aptos"/>
              </a:rPr>
              <a:t>LUMENCORE | EVIDENCE-TO-PILOT BRIEF | 2026-08-02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41B83D-09F3-47D0-9A3C-6C2C420DA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5055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AAB5BC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AAB5BC"/>
                </a:solidFill>
                <a:latin typeface="Aptos"/>
                <a:ea typeface="Aptos"/>
                <a:cs typeface="Aptos"/>
              </a:rPr>
              <a:t>1/11</a:t>
            </a:r>
          </a:p>
        </p:txBody>
      </p:sp>
    </p:spTree>
    <p:extLst>
      <p:ext uri="{BB962C8B-B14F-4D97-AF65-F5344CB8AC3E}">
        <p14:creationId xmlns:p14="http://schemas.microsoft.com/office/powerpoint/2010/main" val="36740978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80955D6-FE0A-4A80-9BA0-159072566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40C56F-F3A9-4C55-A1EC-60985FC8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Evidence fails before models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D611C1-948A-427E-86A0-E3E18C99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3337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D1E634-4194-4A5C-B4A3-A089752C3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6207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0F"/>
          </a:solidFill>
          <a:ln xmlns:a="http://schemas.openxmlformats.org/drawingml/2006/main" w="0">
            <a:solidFill>
              <a:srgbClr val="0B0D0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04FFFE-E580-4B9F-91AE-103E5E2D7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57350"/>
            <a:ext cx="619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In high-consequence operations, a buyer is not purchasing a score. The buyer is purchasing a defensible decision.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BAADB0-38E9-48D1-B80A-1F8A65C5B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14625"/>
            <a:ext cx="533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A strong result can still fail review when the evidence trail cannot answer four basic questions.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21C219-09E4-4B49-9905-81C7B5B4D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67150"/>
            <a:ext cx="1219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7F7A"/>
          </a:solidFill>
          <a:ln xmlns:a="http://schemas.openxmlformats.org/drawingml/2006/main" w="0">
            <a:solidFill>
              <a:srgbClr val="0A7F7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977298-5796-44EA-A3BD-8C0785F42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19550"/>
            <a:ext cx="1219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FEF2D0-198E-49CC-AF06-B344D6503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767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Dataset identity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and allowed history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01C451-927F-4F55-85FA-0C1BFBD9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67150"/>
            <a:ext cx="1219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D91"/>
          </a:solidFill>
          <a:ln xmlns:a="http://schemas.openxmlformats.org/drawingml/2006/main" w="0">
            <a:solidFill>
              <a:srgbClr val="1D5D9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A8D9C5-335A-45E0-B33F-76A47DA5F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019550"/>
            <a:ext cx="1219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5C2041-5246-4440-89EA-AF5B4943C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767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Baseline and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metric lock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07A255-B303-494F-B6B1-688E5FD51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867150"/>
            <a:ext cx="1219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800"/>
          </a:solidFill>
          <a:ln xmlns:a="http://schemas.openxmlformats.org/drawingml/2006/main" w="0">
            <a:solidFill>
              <a:srgbClr val="B878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C35186-5822-4855-BF47-2BD5BEA02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019550"/>
            <a:ext cx="1219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3003CD-E9FD-4D5A-86B3-64ACE4F29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4767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Negative results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and uncertainty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642E30-5491-4192-9A80-DE8E7A38E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867150"/>
            <a:ext cx="1219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7452"/>
          </a:solidFill>
          <a:ln xmlns:a="http://schemas.openxmlformats.org/drawingml/2006/main" w="0">
            <a:solidFill>
              <a:srgbClr val="1E74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595111-7703-4800-BEA5-22F61345C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019550"/>
            <a:ext cx="1219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C24F1C-9963-4EA8-9897-57F6ED25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767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Receipt, owner,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and next action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6C5B5B-125F-445F-BA0C-300501C6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657350"/>
            <a:ext cx="4933950" cy="4114800"/>
          </a:xfrm>
          <a:prstGeom xmlns:a="http://schemas.openxmlformats.org/drawingml/2006/main" prst="roundRect">
            <a:avLst>
              <a:gd name="adj" fmla="val 18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CB8428-1A34-4428-9B44-BCE27F574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52625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A8444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84444"/>
                </a:solidFill>
                <a:latin typeface="Aptos"/>
                <a:ea typeface="Aptos"/>
                <a:cs typeface="Aptos"/>
              </a:rPr>
              <a:t>WHAT BREAKS TRUST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ADD64A-427F-48CE-84A4-7EEC92728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914650"/>
            <a:ext cx="4210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1"/>
          </a:solidFill>
          <a:ln xmlns:a="http://schemas.openxmlformats.org/drawingml/2006/main" w="0">
            <a:solidFill>
              <a:srgbClr val="E9EEF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960C91-789C-49FB-BB23-C00478197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3431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Data leakage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6D408B-6689-4B99-967F-251C1D64C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343150"/>
            <a:ext cx="2590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Future information contaminates the test.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74190A-E328-4BD7-AEB3-BF1D36EBC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95700"/>
            <a:ext cx="4210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1"/>
          </a:solidFill>
          <a:ln xmlns:a="http://schemas.openxmlformats.org/drawingml/2006/main" w="0">
            <a:solidFill>
              <a:srgbClr val="E9EEF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71DC4C-F5C9-4356-AF4A-41F495DD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242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Moving goalposts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864AE4-FAC5-4CE3-89A6-9F5A7F2AA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124200"/>
            <a:ext cx="2590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Baselines or metrics change after results appear.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393E08-1993-4ACD-A903-C529159D2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76750"/>
            <a:ext cx="4210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1"/>
          </a:solidFill>
          <a:ln xmlns:a="http://schemas.openxmlformats.org/drawingml/2006/main" w="0">
            <a:solidFill>
              <a:srgbClr val="E9EEF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0E1485-6287-4D88-A589-517527605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9052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Hidden negatives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1E9EC4-B0C0-4E65-9611-60F3A6414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905250"/>
            <a:ext cx="2590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Only favorable runs survive into the deck.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949084-68AB-4EFF-8C57-175B28525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257800"/>
            <a:ext cx="4210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1"/>
          </a:solidFill>
          <a:ln xmlns:a="http://schemas.openxmlformats.org/drawingml/2006/main" w="0">
            <a:solidFill>
              <a:srgbClr val="E9EEF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9F5FCD1-DB77-4557-A83F-D55F4DDDF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6863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No custody trail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E25AE65-B7EB-4626-A0D6-C07686E91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686300"/>
            <a:ext cx="2590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The artifact cannot be tied to code, data, or time.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F351E11-B409-4D47-9FB8-5E48AD904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0557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LUMENCORE | EVIDENCE-TO-PILOT BRIEF | 2026-08-02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C9B3306-E945-456C-B941-C871B08C4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5055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2/11</a:t>
            </a:r>
          </a:p>
        </p:txBody>
      </p:sp>
    </p:spTree>
    <p:extLst>
      <p:ext uri="{BB962C8B-B14F-4D97-AF65-F5344CB8AC3E}">
        <p14:creationId xmlns:p14="http://schemas.microsoft.com/office/powerpoint/2010/main" val="7090792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151E07B-F747-4C84-80C6-C24C80773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2997F9-5734-4380-8807-CFC4BCAFE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One bounded workflow from claim to decision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2A8F84-403A-4604-B304-5C8B894B7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3337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81AF16-44F3-4498-8CA5-897EBE556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6207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0F"/>
          </a:solidFill>
          <a:ln xmlns:a="http://schemas.openxmlformats.org/drawingml/2006/main" w="0">
            <a:solidFill>
              <a:srgbClr val="0B0D0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2F9A95-0F33-4CAE-ACD2-29341061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19250"/>
            <a:ext cx="8191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LumenCore makes the evidence path explicit before any claim is promoted.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840B7B-1F41-4D47-9865-A9E6FADF4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71750"/>
            <a:ext cx="21336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DDEFEA"/>
          </a:solidFill>
          <a:ln xmlns:a="http://schemas.openxmlformats.org/drawingml/2006/main" w="19050">
            <a:solidFill>
              <a:srgbClr val="0A7F7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59C3CB-7F3B-4FBC-A408-D69467C3D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571750"/>
            <a:ext cx="21336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DFEAF3"/>
          </a:solidFill>
          <a:ln xmlns:a="http://schemas.openxmlformats.org/drawingml/2006/main" w="19050">
            <a:solidFill>
              <a:srgbClr val="1D5D9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2E7833-2050-4FB9-9CE0-91906CFA6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571750"/>
            <a:ext cx="21336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6E9C8"/>
          </a:solidFill>
          <a:ln xmlns:a="http://schemas.openxmlformats.org/drawingml/2006/main" w="19050">
            <a:solidFill>
              <a:srgbClr val="B878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15014D-AEF7-4708-8A10-21E0B6666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571750"/>
            <a:ext cx="21336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DDEDE5"/>
          </a:solidFill>
          <a:ln xmlns:a="http://schemas.openxmlformats.org/drawingml/2006/main" w="19050">
            <a:solidFill>
              <a:srgbClr val="1E7452"/>
            </a:solidFill>
            <a:prstDash val="solid"/>
          </a:ln>
        </p:spPr>
      </p:sp>
      <p:cxnSp>
        <p:nvCxnSpPr>
          <p:cNvPr id="123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667000" y="3571875"/>
            <a:ext cx="685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0D0F"/>
            </a:solidFill>
            <a:prstDash val="solid"/>
            <a:tailEnd type="arrow" w="med" len="med"/>
          </a:ln>
        </p:spPr>
      </p:cxnSp>
      <p:cxnSp>
        <p:nvCxnSpPr>
          <p:cNvPr id="124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5486400" y="3571875"/>
            <a:ext cx="685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0D0F"/>
            </a:solidFill>
            <a:prstDash val="solid"/>
            <a:tailEnd type="arrow" w="med" len="med"/>
          </a:ln>
        </p:spPr>
      </p:cxnSp>
      <p:cxnSp>
        <p:nvCxnSpPr>
          <p:cNvPr id="125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8305800" y="3571875"/>
            <a:ext cx="685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0D0F"/>
            </a:solidFill>
            <a:prstDash val="solid"/>
            <a:tailEnd type="arrow" w="med" len="me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79978C-98E2-48D1-A112-FA2386E00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60BB15-1EB9-4D89-AE34-80B5021E3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71825"/>
            <a:ext cx="1676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FREEZE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2BBBF1-49A4-4C47-9E60-D4CA5312A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33800"/>
            <a:ext cx="1676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Dataset, baseline, metric, window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C1343A-E961-4DD6-AF46-ECFB77272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813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D5D9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D5D9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45E74F-D47C-4BDD-AAB1-9A35C8635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171825"/>
            <a:ext cx="1676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REPLAY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0F8981-E9C7-4510-8BB4-F5335A641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733800"/>
            <a:ext cx="1676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Past-only execution with held-out windows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3548CA-BC69-4F07-AEE8-C7A154755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13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B878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B8780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5925C4-7139-4FDD-8EDA-2D903DCF5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71825"/>
            <a:ext cx="1676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GATE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0BB873-656A-40DF-AD21-86EA482B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33800"/>
            <a:ext cx="1676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Uncertainty, abstention, and negative-result checks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48FD78-6368-41FA-870E-D79970704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7813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E745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E7452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099FFC-2BE6-4FB3-81A9-6279876E4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171825"/>
            <a:ext cx="1676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RECEIPT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4A028E-6E4E-49B0-B6E3-FA5981A33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733800"/>
            <a:ext cx="1676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Hash, custody record, owner, and pilot decision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BF1E04-5DD1-4A14-8A39-6A0E5A8F7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095875"/>
            <a:ext cx="4305300" cy="381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0B0D0F"/>
          </a:solidFill>
          <a:ln xmlns:a="http://schemas.openxmlformats.org/drawingml/2006/main" w="0">
            <a:solidFill>
              <a:srgbClr val="0B0D0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DE8E17-EF8D-4178-9BBE-08504A383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095875"/>
            <a:ext cx="4305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HUMAN APPROVAL BEFORE EXTERNAL RELEASE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90183AA-CC3A-4A3D-BC7A-5BA3F4899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695950"/>
            <a:ext cx="822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Output: a reviewer-readable packet that can be reproduced, challenged, and used to decide whether a scoped pilot is warranted.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80B0BB-5347-424A-A9A9-8BF09BA0A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0557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LUMENCORE | EVIDENCE-TO-PILOT BRIEF | 2026-08-02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0571CC-56E0-4E6B-B973-34016D940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5055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3/11</a:t>
            </a:r>
          </a:p>
        </p:txBody>
      </p:sp>
    </p:spTree>
    <p:extLst>
      <p:ext uri="{BB962C8B-B14F-4D97-AF65-F5344CB8AC3E}">
        <p14:creationId xmlns:p14="http://schemas.microsoft.com/office/powerpoint/2010/main" val="75224759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C09C592-A3F9-449D-B8BC-F82BCD239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CUSTOMER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0D6B01-6154-438A-8170-8CCF12BD4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Start where one bad decision is expensive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A32453-74D9-48BD-B0D6-3FC820670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3337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AB3FA6-0BF4-4C89-9CD0-A24D87564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6207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0F"/>
          </a:solidFill>
          <a:ln xmlns:a="http://schemas.openxmlformats.org/drawingml/2006/main" w="0">
            <a:solidFill>
              <a:srgbClr val="0B0D0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D93B81-FE30-4C22-A429-ECAEC23BF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57350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Target hypothesis: organizations with costly reliability, planning, or forecasting errors and an incumbent baseline they already trust.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2E5F02-7133-4B45-908B-A7DAA69C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43175"/>
            <a:ext cx="3124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7F7A"/>
          </a:solidFill>
          <a:ln xmlns:a="http://schemas.openxmlformats.org/drawingml/2006/main" w="0">
            <a:solidFill>
              <a:srgbClr val="0A7F7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781B7F-5CC4-4492-A2F5-A91F5B933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71775"/>
            <a:ext cx="3124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UTILITY / GRID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75C5DD-F31A-4BFB-BD3A-50E482BC0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62325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BUYER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887F27-810D-456D-989B-A5C99BC1F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90925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Analytics or operations lead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D80AFE-DF5E-4892-8F81-9AB0BF4BB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57675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TRIGGER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4FFF37-1F83-4391-8F2A-62379B50E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86275"/>
            <a:ext cx="3124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A planning or forecasting model cannot clear internal review.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26D904-99F8-4F59-B10C-F72647C12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81625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PILOT OUTCOME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600339-461A-453D-BA60-7C817DBD7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10225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Decision receipt + replay package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004008-057C-42F7-AF6A-31BB319D5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543175"/>
            <a:ext cx="3124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D91"/>
          </a:solidFill>
          <a:ln xmlns:a="http://schemas.openxmlformats.org/drawingml/2006/main" w="0">
            <a:solidFill>
              <a:srgbClr val="1D5D9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AFA708-DD8F-4A21-B5BC-142652FA3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71775"/>
            <a:ext cx="3124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LAB / AGENCY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601901-B2E5-43CC-B80B-5628ED25D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362325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BUYER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9BA466-D314-45B0-92F0-BFCF82961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590925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Program or technical lead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860566-EB95-44C1-8F4B-15B92B4A1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257675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TRIGGER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FB97F6-1049-438C-A8C2-AF0237F8F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486275"/>
            <a:ext cx="3124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A research result needs a reproducible route to a field partner.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954ECE-13CF-469F-85F8-BE3EC992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81625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PILOT OUTCOME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99A051-0520-45A9-90A3-34AD44BB4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0225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D5D9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D5D91"/>
                </a:solidFill>
                <a:latin typeface="Aptos"/>
                <a:ea typeface="Aptos"/>
                <a:cs typeface="Aptos"/>
              </a:rPr>
              <a:t>Reviewer packet + validation plan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654C18-97E6-484D-B696-D78B7B447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543175"/>
            <a:ext cx="3124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800"/>
          </a:solidFill>
          <a:ln xmlns:a="http://schemas.openxmlformats.org/drawingml/2006/main" w="0">
            <a:solidFill>
              <a:srgbClr val="B8780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EF35D4-71DE-4BC0-B41B-B293B23ED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71775"/>
            <a:ext cx="3124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INDUSTRIAL RELIABILITY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A2BFEA-2A32-4B95-8E8A-AF94D9F60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362325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BUYER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365D35-88DB-4C66-AAC6-36C273AB7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90925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Reliability or asset lead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7B20BC-D37E-4C07-993C-05255A9A6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257675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TRIGGER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B771650-F5AC-4E8F-A9C0-218243CEB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486275"/>
            <a:ext cx="3124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A failure-risk signal needs proof against the incumbent rule or model.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E7F9E67-3CAA-44CE-A91F-0BECED2C7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381625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PILOT OUTCOME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C0C630E-9537-4B4C-AC6D-A980AE7A8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610225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B8780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7800"/>
                </a:solidFill>
                <a:latin typeface="Aptos"/>
                <a:ea typeface="Aptos"/>
                <a:cs typeface="Aptos"/>
              </a:rPr>
              <a:t>Scoped pilot + accepted evidence gate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788437-1DCE-4CEB-AF9C-C2D2DA5AC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0557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LUMENCORE | EVIDENCE-TO-PILOT BRIEF | 2026-08-02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6B2CB11-F4FA-4D41-BB43-26A08DF66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5055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4/11</a:t>
            </a:r>
          </a:p>
        </p:txBody>
      </p:sp>
    </p:spTree>
    <p:extLst>
      <p:ext uri="{BB962C8B-B14F-4D97-AF65-F5344CB8AC3E}">
        <p14:creationId xmlns:p14="http://schemas.microsoft.com/office/powerpoint/2010/main" val="207794405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0D8BCC-8132-456C-84D3-B2EC04CAC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EVIDENCE POSTURE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7179E3-658E-45C4-ADBE-8A498C12F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Current evidence is measurable, including the negative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EDDCD2-4860-490A-9ADB-66770FEC3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3337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C46BD4-A1F5-46B2-9994-2556BFC85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6207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0F"/>
          </a:solidFill>
          <a:ln xmlns:a="http://schemas.openxmlformats.org/drawingml/2006/main" w="0">
            <a:solidFill>
              <a:srgbClr val="0B0D0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2CAD72-CA19-47B6-B8E5-EC80BF623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57350"/>
            <a:ext cx="5143500" cy="4210050"/>
          </a:xfrm>
          <a:prstGeom xmlns:a="http://schemas.openxmlformats.org/drawingml/2006/main" prst="roundRect">
            <a:avLst>
              <a:gd name="adj" fmla="val 1810"/>
            </a:avLst>
          </a:prstGeom>
          <a:solidFill xmlns:a="http://schemas.openxmlformats.org/drawingml/2006/main">
            <a:srgbClr val="DDEDE5"/>
          </a:solidFill>
          <a:ln xmlns:a="http://schemas.openxmlformats.org/drawingml/2006/main" w="9525">
            <a:solidFill>
              <a:srgbClr val="1E74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2F792B-617E-41B0-95FF-E62574505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24050"/>
            <a:ext cx="22669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E7452"/>
          </a:solidFill>
          <a:ln xmlns:a="http://schemas.openxmlformats.org/drawingml/2006/main" w="0">
            <a:solidFill>
              <a:srgbClr val="1E745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AF7E8D-A47D-434A-B83C-2F2261B7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24050"/>
            <a:ext cx="2266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CURRENT SOURCE-NATIVE LEDGER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19A2A6-BF3C-41E7-A4C3-58048FD25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146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Retrospective benchmark state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6EF426-F904-44BF-81D9-22E83C7E7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527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7452"/>
          </a:solidFill>
          <a:ln xmlns:a="http://schemas.openxmlformats.org/drawingml/2006/main" w="0">
            <a:solidFill>
              <a:srgbClr val="1E745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DF4ECF-A97F-43EE-AB52-270870487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527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CCBD60-3E06-41EC-9B26-8F33CC096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133725"/>
            <a:ext cx="4019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140 registered families; 35 implementations present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A119B1-8373-476D-9C08-830B19678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861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7452"/>
          </a:solidFill>
          <a:ln xmlns:a="http://schemas.openxmlformats.org/drawingml/2006/main" w="0">
            <a:solidFill>
              <a:srgbClr val="1E74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8FAB69-D806-4B68-AF72-74B4A5864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861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831F3C-DEB8-44AF-99BD-2D4C537A4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67125"/>
            <a:ext cx="4019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126 direct comparisons across 23 candidate-source cards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08F582-BBC5-401B-BB10-C90930F5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195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7452"/>
          </a:solidFill>
          <a:ln xmlns:a="http://schemas.openxmlformats.org/drawingml/2006/main" w="0">
            <a:solidFill>
              <a:srgbClr val="1E745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8205D4-B1CB-4954-8650-E7E5F389E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195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58BDCA-FA03-4BAF-81AA-2E1E40A96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00525"/>
            <a:ext cx="4019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0 global Holm-positive comparisons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51400C-1633-4ED0-8B3D-1BC961690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529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7452"/>
          </a:solidFill>
          <a:ln xmlns:a="http://schemas.openxmlformats.org/drawingml/2006/main" w="0">
            <a:solidFill>
              <a:srgbClr val="1E74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1018A6-DEFF-485F-B927-3973B01D9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529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B0815E-84AD-4609-9B22-A92248DA5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33925"/>
            <a:ext cx="4019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0 promoted champions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12E6C3-9781-41A1-925F-97F56E309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05425"/>
            <a:ext cx="4324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E745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E7452"/>
                </a:solidFill>
                <a:latin typeface="Aptos"/>
                <a:ea typeface="Aptos"/>
                <a:cs typeface="Aptos"/>
              </a:rPr>
              <a:t>Supports bounded software, custody, and protocol review. No alpha, superiority, savings, or field claim.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4A3509-3DE8-47FC-8200-76789B809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657350"/>
            <a:ext cx="5676900" cy="4210050"/>
          </a:xfrm>
          <a:prstGeom xmlns:a="http://schemas.openxmlformats.org/drawingml/2006/main" prst="roundRect">
            <a:avLst>
              <a:gd name="adj" fmla="val 1810"/>
            </a:avLst>
          </a:prstGeom>
          <a:solidFill xmlns:a="http://schemas.openxmlformats.org/drawingml/2006/main">
            <a:srgbClr val="F6E9C8"/>
          </a:solidFill>
          <a:ln xmlns:a="http://schemas.openxmlformats.org/drawingml/2006/main" w="9525">
            <a:solidFill>
              <a:srgbClr val="B8780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0E1BFD-FAE8-474D-AEF2-8C4F34259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24050"/>
            <a:ext cx="21526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B87800"/>
          </a:solidFill>
          <a:ln xmlns:a="http://schemas.openxmlformats.org/drawingml/2006/main" w="0">
            <a:solidFill>
              <a:srgbClr val="B878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B8CD05-A88C-47FA-A1FE-0269ACB5A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24050"/>
            <a:ext cx="2152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FROZEN PROSPECTIVE GATE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1D0EBD-E741-41F6-BFC4-D457E5013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146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Future-only validation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A64809-C4C1-4E76-B0D0-41D20874C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1527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7800"/>
          </a:solidFill>
          <a:ln xmlns:a="http://schemas.openxmlformats.org/drawingml/2006/main" w="0">
            <a:solidFill>
              <a:srgbClr val="B8780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A4BC13-F6DA-4288-BAFD-3E76054FB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1527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!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22B39A-771E-46FB-A75F-C3B690130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133725"/>
            <a:ext cx="449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Eight source-native baselines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129706-55F3-41F2-B1FA-A722656A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6861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7800"/>
          </a:solidFill>
          <a:ln xmlns:a="http://schemas.openxmlformats.org/drawingml/2006/main" w="0">
            <a:solidFill>
              <a:srgbClr val="B8780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ED9727-B300-4288-8DD5-EF6119FB7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6861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!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8570EB7-B4E6-405F-90EC-5B626ABEC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667125"/>
            <a:ext cx="449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Sixteen one-sided Holm contrasts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DA1DEAD-A5BF-47CF-A062-BCFC70178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2195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7800"/>
          </a:solidFill>
          <a:ln xmlns:a="http://schemas.openxmlformats.org/drawingml/2006/main" w="0">
            <a:solidFill>
              <a:srgbClr val="B8780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99D7A3F-255D-4923-8E6D-4D27D10E6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2195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!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65F9704-1B4F-478A-95D5-7D8806B48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200525"/>
            <a:ext cx="449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520 future daily sessions or 60 monthly releases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791557A-33E9-4451-BA9E-C34B35A57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7529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7800"/>
          </a:solidFill>
          <a:ln xmlns:a="http://schemas.openxmlformats.org/drawingml/2006/main" w="0">
            <a:solidFill>
              <a:srgbClr val="B8780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4CF4F28-B508-4C4F-9933-5A7FF1F28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7529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!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EDC18E7-023C-4169-8791-696D071EF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733925"/>
            <a:ext cx="449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Zero eligible future observations today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A820912-11DD-43B9-B4D0-4E7F22D53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305425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780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87800"/>
                </a:solidFill>
                <a:latin typeface="Aptos"/>
                <a:ea typeface="Aptos"/>
                <a:cs typeface="Aptos"/>
              </a:rPr>
              <a:t>V3 protocol LUMENCORE_TS_SOURCE_NATIVE_20260802_V3 is sealed and awaiting future observations.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E6F11DF-7DC0-4EC6-908F-2DB09B0D5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0557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LUMENCORE | EVIDENCE-TO-PILOT BRIEF | 2026-08-02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B49083A-DA1C-4FC0-A5EB-671CAE2D0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5055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5/11</a:t>
            </a:r>
          </a:p>
        </p:txBody>
      </p:sp>
    </p:spTree>
    <p:extLst>
      <p:ext uri="{BB962C8B-B14F-4D97-AF65-F5344CB8AC3E}">
        <p14:creationId xmlns:p14="http://schemas.microsoft.com/office/powerpoint/2010/main" val="18539485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77485F-7B7B-4430-81DF-DC86D07D5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BUSINESS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57946D-05D8-4D9C-8855-CDBB47B43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Commercial path begins with an accepted evidence contract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29E773-C846-4A55-B3C0-7C79B6B3E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3337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FE1FF1-CF96-42A7-A6AD-2F2782031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6207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0F"/>
          </a:solidFill>
          <a:ln xmlns:a="http://schemas.openxmlformats.org/drawingml/2006/main" w="0">
            <a:solidFill>
              <a:srgbClr val="0B0D0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E32884-DAB4-4BCC-BF05-75712A667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57350"/>
            <a:ext cx="904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Three offers create a bounded entry, a controlled validation event, and a post-pilot expansion path.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7C9D70-F2A1-4E02-81FC-E40C99949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05075"/>
            <a:ext cx="3124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7F7A"/>
          </a:solidFill>
          <a:ln xmlns:a="http://schemas.openxmlformats.org/drawingml/2006/main" w="0">
            <a:solidFill>
              <a:srgbClr val="0A7F7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A86983-A844-4C8D-A5BA-3D244C8AF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62250"/>
            <a:ext cx="312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1. EVIDENCE REVIEW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D7142C-FAAF-49DD-AA4A-AA062B525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67075"/>
            <a:ext cx="3124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SCOPED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D318FE-542C-4BDF-8615-216769803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9525"/>
            <a:ext cx="3124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Price unquoted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6532AD-588D-4015-AB77-8AABA2501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76725"/>
            <a:ext cx="31242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Define the decision, lock the incumbent baseline, and produce a reviewer-ready evidence plan.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191A4A-72BD-4525-A035-AC515308D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62600"/>
            <a:ext cx="3124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Buyer: Technical sponsor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722689-6DB3-4C6C-B4C6-ED7E56305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505075"/>
            <a:ext cx="3124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D91"/>
          </a:solidFill>
          <a:ln xmlns:a="http://schemas.openxmlformats.org/drawingml/2006/main" w="0">
            <a:solidFill>
              <a:srgbClr val="1D5D9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A61E1B-D92F-4021-AA38-4AF332408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62250"/>
            <a:ext cx="312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D5D9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D5D91"/>
                </a:solidFill>
                <a:latin typeface="Aptos"/>
                <a:ea typeface="Aptos"/>
                <a:cs typeface="Aptos"/>
              </a:rPr>
              <a:t>2. CONTROLLED PILOT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90F69D-E83A-44AD-B420-48EA45D25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267075"/>
            <a:ext cx="3124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GATED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2707B8-E310-4831-AD87-9A6825DBD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819525"/>
            <a:ext cx="3124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Buyer-defined gate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C9C23F-6CAA-4611-A414-FB332A778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276725"/>
            <a:ext cx="31242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Replay buyer-controlled data against a written acceptance gate and issue an auditable receipt.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344D9D-D0FC-4E5E-AD59-C53ED3734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562600"/>
            <a:ext cx="3124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Buyer: Design partner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4C9D84-D3DD-42E7-83F0-B87F236E6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505075"/>
            <a:ext cx="3124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7452"/>
          </a:solidFill>
          <a:ln xmlns:a="http://schemas.openxmlformats.org/drawingml/2006/main" w="0">
            <a:solidFill>
              <a:srgbClr val="1E74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DA6A31-ECB2-426F-BA93-50AEB1732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62250"/>
            <a:ext cx="312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E745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E7452"/>
                </a:solidFill>
                <a:latin typeface="Aptos"/>
                <a:ea typeface="Aptos"/>
                <a:cs typeface="Aptos"/>
              </a:rPr>
              <a:t>3. PROGRAM LICENSE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E8124D-7B8F-4357-B80E-622BE3243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67075"/>
            <a:ext cx="3124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POST-PILOT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4AB53B-80F1-4F97-89E7-39423006D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819525"/>
            <a:ext cx="3124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After accepted receipt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692AF7-98FD-4FDD-8E6B-E52E2960F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276725"/>
            <a:ext cx="31242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Automate repeatable reviews, evidence custody, governance, support, and approved workflows.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021C1E-609A-4FF9-B1EC-30133E8FF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562600"/>
            <a:ext cx="3124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Buyer: Program owner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6C82DC7-37F5-45D4-B0D1-41EF20EEA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B8780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B87800"/>
                </a:solidFill>
                <a:latin typeface="Aptos"/>
                <a:ea typeface="Aptos"/>
                <a:cs typeface="Aptos"/>
              </a:rPr>
              <a:t>No pricing, paid customer, savings, or contract is claimed. Scope and price require founder approval.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745A18-749B-463B-A61E-16D1E77CE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0557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LUMENCORE | EVIDENCE-TO-PILOT BRIEF | 2026-08-02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62B0B6-F006-4C14-88FF-061EEC9FA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5055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6/11</a:t>
            </a:r>
          </a:p>
        </p:txBody>
      </p:sp>
    </p:spTree>
    <p:extLst>
      <p:ext uri="{BB962C8B-B14F-4D97-AF65-F5344CB8AC3E}">
        <p14:creationId xmlns:p14="http://schemas.microsoft.com/office/powerpoint/2010/main" val="18178841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C158CB-4299-43A2-A07E-1D7662E80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COMPETITIVE LANDSCAPE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06ACB3-36CD-4D51-9380-644D7E2FC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Positioned between model tooling and audit work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08C30B-8226-4E17-8919-9CE676531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3337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A860CA-CF96-4AE2-AB79-4285943B4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6207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0F"/>
          </a:solidFill>
          <a:ln xmlns:a="http://schemas.openxmlformats.org/drawingml/2006/main" w="0">
            <a:solidFill>
              <a:srgbClr val="0B0D0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ECDF04-F849-4692-943F-B0B26DBE5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57350"/>
            <a:ext cx="981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The wedge is not another model leaderboard. It is an evidence operating layer for decisions that must survive review.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A5377B-47C6-4E8F-9CC8-827FA7A7F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657850"/>
            <a:ext cx="723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0F"/>
          </a:solidFill>
          <a:ln xmlns:a="http://schemas.openxmlformats.org/drawingml/2006/main" w="0">
            <a:solidFill>
              <a:srgbClr val="0B0D0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417E9F-C3AA-42AF-A734-8A8089FC1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05100"/>
            <a:ext cx="190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0F"/>
          </a:solidFill>
          <a:ln xmlns:a="http://schemas.openxmlformats.org/drawingml/2006/main" w="0">
            <a:solidFill>
              <a:srgbClr val="0B0D0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23A8ED-E364-48EB-B3AF-729A6766F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705100"/>
            <a:ext cx="952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1"/>
          </a:solidFill>
          <a:ln xmlns:a="http://schemas.openxmlformats.org/drawingml/2006/main" w="0">
            <a:solidFill>
              <a:srgbClr val="E9EEF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BF42D5-DA03-4554-B13E-AC6BF5B45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81475"/>
            <a:ext cx="723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1"/>
          </a:solidFill>
          <a:ln xmlns:a="http://schemas.openxmlformats.org/drawingml/2006/main" w="0">
            <a:solidFill>
              <a:srgbClr val="E9EEF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2F3EE8-1682-4892-996C-9AD7419CA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7912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LOW AUDITABILITY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F46BE6-07AC-4AA1-B210-A3038B1EB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7912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HIGH AUDITABILITY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9286A1-2BA9-426B-881A-E467D3F6C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2705100"/>
            <a:ext cx="95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REPEATABLE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6E455B-0067-456E-8E81-56907D492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991100"/>
            <a:ext cx="571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BESPOKE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F7A7D4-0CA3-445B-87A7-BCD3519B0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47148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D6972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10DEE6-FCE6-47C1-8586-701AED4D0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4638675"/>
            <a:ext cx="1447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AD HOC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6B0BD1-5800-4DF9-9031-663E3AB1E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3528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5D9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5CAE38-15C5-4460-93FE-D077F9475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76600"/>
            <a:ext cx="1447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D5D9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D5D91"/>
                </a:solidFill>
                <a:latin typeface="Aptos"/>
                <a:ea typeface="Aptos"/>
                <a:cs typeface="Aptos"/>
              </a:rPr>
              <a:t>GENERIC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D5D9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D5D91"/>
                </a:solidFill>
                <a:latin typeface="Aptos"/>
                <a:ea typeface="Aptos"/>
                <a:cs typeface="Aptos"/>
              </a:rPr>
              <a:t>MLOPS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8C944C-3791-4285-BBB8-2728E3C15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5243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7800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245ED6-4FC2-4835-874C-FEFFAD766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4448175"/>
            <a:ext cx="1447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B878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7800"/>
                </a:solidFill>
                <a:latin typeface="Aptos"/>
                <a:ea typeface="Aptos"/>
                <a:cs typeface="Aptos"/>
              </a:rPr>
              <a:t>CONSULTING /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B878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7800"/>
                </a:solidFill>
                <a:latin typeface="Aptos"/>
                <a:ea typeface="Aptos"/>
                <a:cs typeface="Aptos"/>
              </a:rPr>
              <a:t>AUDIT PROJECT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CF8E08-3803-4F60-A38E-8BCB4F374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432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7F7A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380D23-5577-48A9-BB01-E4AB4B9E0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067050"/>
            <a:ext cx="1447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LUMENCORE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TARGET POSITION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23BF53-F49B-41DA-B99C-73CD12AEF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686050"/>
            <a:ext cx="2552700" cy="2971800"/>
          </a:xfrm>
          <a:prstGeom xmlns:a="http://schemas.openxmlformats.org/drawingml/2006/main" prst="roundRect">
            <a:avLst>
              <a:gd name="adj" fmla="val 2985"/>
            </a:avLst>
          </a:prstGeom>
          <a:solidFill xmlns:a="http://schemas.openxmlformats.org/drawingml/2006/main">
            <a:srgbClr val="F7F9FA"/>
          </a:solidFill>
          <a:ln xmlns:a="http://schemas.openxmlformats.org/drawingml/2006/main" w="9525">
            <a:solidFill>
              <a:srgbClr val="CBD5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140AD7-BC80-465A-B0F1-A56ACE9B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95275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DISTINCTIVE CONTROLS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B46843-8B5B-48F7-92DF-4077A0A78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333750"/>
            <a:ext cx="20193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Past-only replay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Frozen baseline and metric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Visible negatives and abstention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Hashable custody receipt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Human release gate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260D44-8CB1-4862-B364-D251FF397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5829300"/>
            <a:ext cx="255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Positioning hypothesis; not a market-share or superiority claim.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979862-78F2-42D8-9FD8-C4535FF80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0557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LUMENCORE | EVIDENCE-TO-PILOT BRIEF | 2026-08-02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9F0175-1F8F-42F3-8555-526F31999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5055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7/11</a:t>
            </a:r>
          </a:p>
        </p:txBody>
      </p:sp>
    </p:spTree>
    <p:extLst>
      <p:ext uri="{BB962C8B-B14F-4D97-AF65-F5344CB8AC3E}">
        <p14:creationId xmlns:p14="http://schemas.microsoft.com/office/powerpoint/2010/main" val="56409555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C5DE500-5E34-4BE8-BBBD-DCD2CB548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GO-TO-MARKET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064644-C96A-44F8-B1CF-77454F5FF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Qualify one hard problem, prove it, then expand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A8433A-BC97-48FE-BE25-B11472049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3337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AE93D4-194A-491A-9486-8C335CEE6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6207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0F"/>
          </a:solidFill>
          <a:ln xmlns:a="http://schemas.openxmlformats.org/drawingml/2006/main" w="0">
            <a:solidFill>
              <a:srgbClr val="0B0D0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D0342A-9FE1-4C7E-B8A6-3D18A8942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57350"/>
            <a:ext cx="1000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The near-term objective is one serious design partner with controlled data and an accepted incumbent baseline.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A01D9B-60CF-4C28-9C91-8B94F3381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28575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A7F7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F11082-9A06-43B3-8A55-2B2AF8A8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81300"/>
            <a:ext cx="28575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D5D9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5A913C-40C9-4907-8AB4-F7D32087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781300"/>
            <a:ext cx="28575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E7452"/>
            </a:solidFill>
            <a:prstDash val="solid"/>
          </a:ln>
        </p:spPr>
      </p:sp>
      <p:cxnSp>
        <p:nvCxnSpPr>
          <p:cNvPr id="106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619500" y="39147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0D0F"/>
            </a:solidFill>
            <a:prstDash val="solid"/>
            <a:tailEnd type="arrow" w="med" len="med"/>
          </a:ln>
        </p:spPr>
      </p:cxnSp>
      <p:cxnSp>
        <p:nvCxnSpPr>
          <p:cNvPr id="107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048500" y="39147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0D0F"/>
            </a:solidFill>
            <a:prstDash val="solid"/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684FC8-5DA2-4C17-A479-630FCE204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90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F24336-CC85-47FE-A07E-8A1C0928F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337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QUALIFY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CE9910-0DC3-4671-B7A4-B7F9263CC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76675"/>
            <a:ext cx="238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Confirm the owner, decision, data rights, baseline, cost of error, and approval path.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7162AB-9B9C-4A91-B760-784E408F1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8630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Gate: written problem + baseline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1E1D67-FF2E-41E2-A401-1DCBB7A66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90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D5D9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D5D9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D9F612-D348-4299-8B34-AB37FD7F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337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PROVE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16A5DA-DC23-4C8A-B5DD-EED5991DC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76675"/>
            <a:ext cx="238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Run a preregistered replay on buyer-controlled data and preserve every favorable and unfavorable result.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25CAAB-D8DA-4196-B4AA-F5A918E71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68630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D5D9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D5D91"/>
                </a:solidFill>
                <a:latin typeface="Aptos"/>
                <a:ea typeface="Aptos"/>
                <a:cs typeface="Aptos"/>
              </a:rPr>
              <a:t>Gate: accepted evidence receipt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951075-8E4C-4CEE-A624-90AD412F0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990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E745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E7452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D497C8-6B72-4717-838C-9438AA1AD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3337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EXPAND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08BDE7-5B41-4200-84E6-FB16869E0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76675"/>
            <a:ext cx="238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972"/>
                </a:solidFill>
                <a:latin typeface="Aptos"/>
                <a:ea typeface="Aptos"/>
                <a:cs typeface="Aptos"/>
              </a:rPr>
              <a:t>Convert the accepted pilot into repeatable workflows, annual support, and adjacent decisions.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C67083-A157-4B68-A0A8-924CA177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68630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E745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E7452"/>
                </a:solidFill>
                <a:latin typeface="Aptos"/>
                <a:ea typeface="Aptos"/>
                <a:cs typeface="Aptos"/>
              </a:rPr>
              <a:t>Gate: paid renewal or license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485B64-68FE-4C62-B30A-E0227C28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24500"/>
            <a:ext cx="11620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0B0D0F"/>
          </a:solidFill>
          <a:ln xmlns:a="http://schemas.openxmlformats.org/drawingml/2006/main" w="0">
            <a:solidFill>
              <a:srgbClr val="0B0D0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2FDBDE-31F6-4F27-A5AE-3ADFA7D3E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24500"/>
            <a:ext cx="1162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QUALIFICATION GATE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E83099-25CD-4F84-9ED2-26C5D361F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524500"/>
            <a:ext cx="817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Named owner  |  accepted baseline  |  controlled dataset  |  written acceptance test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0C0727-2887-46DB-8D08-FE0EC29FB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0557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LUMENCORE | EVIDENCE-TO-PILOT BRIEF | 2026-08-02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E226E1-7A0E-453D-87F2-52E337BD1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5055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8/11</a:t>
            </a:r>
          </a:p>
        </p:txBody>
      </p:sp>
    </p:spTree>
    <p:extLst>
      <p:ext uri="{BB962C8B-B14F-4D97-AF65-F5344CB8AC3E}">
        <p14:creationId xmlns:p14="http://schemas.microsoft.com/office/powerpoint/2010/main" val="98858058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0D8BCC-8132-456C-84D3-B2EC04CAC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PILOT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7179E3-658E-45C4-ADBE-8A498C12F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A paid pilot is defined by acceptance, not a sales claim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EDDCD2-4860-490A-9ADB-66770FEC3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3337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C46BD4-A1F5-46B2-9994-2556BFC85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6207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0F"/>
          </a:solidFill>
          <a:ln xmlns:a="http://schemas.openxmlformats.org/drawingml/2006/main" w="0">
            <a:solidFill>
              <a:srgbClr val="0B0D0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2CAD72-CA19-47B6-B8E5-EC80BF623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57350"/>
            <a:ext cx="5143500" cy="4210050"/>
          </a:xfrm>
          <a:prstGeom xmlns:a="http://schemas.openxmlformats.org/drawingml/2006/main" prst="roundRect">
            <a:avLst>
              <a:gd name="adj" fmla="val 1810"/>
            </a:avLst>
          </a:prstGeom>
          <a:solidFill xmlns:a="http://schemas.openxmlformats.org/drawingml/2006/main">
            <a:srgbClr val="DDEDE5"/>
          </a:solidFill>
          <a:ln xmlns:a="http://schemas.openxmlformats.org/drawingml/2006/main" w="9525">
            <a:solidFill>
              <a:srgbClr val="1E74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2F792B-617E-41B0-95FF-E62574505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24050"/>
            <a:ext cx="22669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E7452"/>
          </a:solidFill>
          <a:ln xmlns:a="http://schemas.openxmlformats.org/drawingml/2006/main" w="0">
            <a:solidFill>
              <a:srgbClr val="1E745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AF7E8D-A47D-434A-B83C-2F2261B7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24050"/>
            <a:ext cx="2266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BUYER SUPPLIES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19A2A6-BF3C-41E7-A4C3-58048FD25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146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Controlled problem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6EF426-F904-44BF-81D9-22E83C7E7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527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7452"/>
          </a:solidFill>
          <a:ln xmlns:a="http://schemas.openxmlformats.org/drawingml/2006/main" w="0">
            <a:solidFill>
              <a:srgbClr val="1E745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DF4ECF-A97F-43EE-AB52-270870487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527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CCBD60-3E06-41EC-9B26-8F33CC096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133725"/>
            <a:ext cx="4019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Named decision owner and operating question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A119B1-8373-476D-9C08-830B19678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861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7452"/>
          </a:solidFill>
          <a:ln xmlns:a="http://schemas.openxmlformats.org/drawingml/2006/main" w="0">
            <a:solidFill>
              <a:srgbClr val="1E74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8FAB69-D806-4B68-AF72-74B4A5864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861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831F3C-DEB8-44AF-99BD-2D4C537A4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67125"/>
            <a:ext cx="4019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Lawfully controlled data with allowed-use terms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08F582-BBC5-401B-BB10-C90930F5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195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7452"/>
          </a:solidFill>
          <a:ln xmlns:a="http://schemas.openxmlformats.org/drawingml/2006/main" w="0">
            <a:solidFill>
              <a:srgbClr val="1E745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8205D4-B1CB-4954-8650-E7E5F389E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195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58BDCA-FA03-4BAF-81AA-2E1E40A96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00525"/>
            <a:ext cx="4019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Accepted incumbent baseline and metric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51400C-1633-4ED0-8B3D-1BC961690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529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7452"/>
          </a:solidFill>
          <a:ln xmlns:a="http://schemas.openxmlformats.org/drawingml/2006/main" w="0">
            <a:solidFill>
              <a:srgbClr val="1E74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1018A6-DEFF-485F-B927-3973B01D9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529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B0815E-84AD-4609-9B22-A92248DA5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33925"/>
            <a:ext cx="4019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Written cost-of-error and acceptance gate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12E6C3-9781-41A1-925F-97F56E309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05425"/>
            <a:ext cx="4324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E745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E7452"/>
                </a:solidFill>
                <a:latin typeface="Aptos"/>
                <a:ea typeface="Aptos"/>
                <a:cs typeface="Aptos"/>
              </a:rPr>
              <a:t>Inputs define the decision contract before any pilot price, schedule, or outcome is represented.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4A3509-3DE8-47FC-8200-76789B809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657350"/>
            <a:ext cx="5676900" cy="4210050"/>
          </a:xfrm>
          <a:prstGeom xmlns:a="http://schemas.openxmlformats.org/drawingml/2006/main" prst="roundRect">
            <a:avLst>
              <a:gd name="adj" fmla="val 1810"/>
            </a:avLst>
          </a:prstGeom>
          <a:solidFill xmlns:a="http://schemas.openxmlformats.org/drawingml/2006/main">
            <a:srgbClr val="F6E9C8"/>
          </a:solidFill>
          <a:ln xmlns:a="http://schemas.openxmlformats.org/drawingml/2006/main" w="9525">
            <a:solidFill>
              <a:srgbClr val="B8780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0E1BFD-FAE8-474D-AEF2-8C4F34259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24050"/>
            <a:ext cx="21526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B87800"/>
          </a:solidFill>
          <a:ln xmlns:a="http://schemas.openxmlformats.org/drawingml/2006/main" w="0">
            <a:solidFill>
              <a:srgbClr val="B878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B8CD05-A88C-47FA-A1FE-0269ACB5A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24050"/>
            <a:ext cx="2152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LUMENCORE RETURNS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1D0EBD-E741-41F6-BFC4-D457E5013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146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Auditable receipt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A64809-C4C1-4E76-B0D0-41D20874C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1527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7800"/>
          </a:solidFill>
          <a:ln xmlns:a="http://schemas.openxmlformats.org/drawingml/2006/main" w="0">
            <a:solidFill>
              <a:srgbClr val="B8780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A4BC13-F6DA-4288-BAFD-3E76054FB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1527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22B39A-771E-46FB-A75F-C3B690130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133725"/>
            <a:ext cx="449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Frozen configuration and custody receipt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129706-55F3-41F2-B1FA-A722656A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6861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7800"/>
          </a:solidFill>
          <a:ln xmlns:a="http://schemas.openxmlformats.org/drawingml/2006/main" w="0">
            <a:solidFill>
              <a:srgbClr val="B8780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ED9727-B300-4288-8DD5-EF6119FB7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6861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8570EB7-B4E6-405F-90EC-5B626ABEC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667125"/>
            <a:ext cx="449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Past-only replay against the accepted baseline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DA1DEAD-A5BF-47CF-A062-BCFC70178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2195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7800"/>
          </a:solidFill>
          <a:ln xmlns:a="http://schemas.openxmlformats.org/drawingml/2006/main" w="0">
            <a:solidFill>
              <a:srgbClr val="B8780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99D7A3F-255D-4923-8E6D-4D27D10E6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2195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65F9704-1B4F-478A-95D5-7D8806B48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200525"/>
            <a:ext cx="449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Favorable, neutral, negative, and invalid outcomes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791557A-33E9-4451-BA9E-C34B35A57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7529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7800"/>
          </a:solidFill>
          <a:ln xmlns:a="http://schemas.openxmlformats.org/drawingml/2006/main" w="0">
            <a:solidFill>
              <a:srgbClr val="B8780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4CF4F28-B508-4C4F-9933-5A7FF1F28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7529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EDC18E7-023C-4169-8791-696D071EF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733925"/>
            <a:ext cx="449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Human-owned next decision with no automatic release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A820912-11DD-43B9-B4D0-4E7F22D53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305425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780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87800"/>
                </a:solidFill>
                <a:latin typeface="Aptos"/>
                <a:ea typeface="Aptos"/>
                <a:cs typeface="Aptos"/>
              </a:rPr>
              <a:t>No savings, ROI, or field-performance claim before a buyer-controlled result.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E6F11DF-7DC0-4EC6-908F-2DB09B0D5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0557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LUMENCORE | EVIDENCE-TO-PILOT BRIEF | 2026-08-02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B49083A-DA1C-4FC0-A5EB-671CAE2D0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5055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9/11</a:t>
            </a:r>
          </a:p>
        </p:txBody>
      </p:sp>
    </p:spTree>
    <p:extLst>
      <p:ext uri="{BB962C8B-B14F-4D97-AF65-F5344CB8AC3E}">
        <p14:creationId xmlns:p14="http://schemas.microsoft.com/office/powerpoint/2010/main" val="185394853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0D8BCC-8132-456C-84D3-B2EC04CAC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FUNDING DISCIPLINE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7179E3-658E-45C4-ADBE-8A498C12F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Near-term funding should buy independent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EDDCD2-4860-490A-9ADB-66770FEC3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3337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C46BD4-A1F5-46B2-9994-2556BFC85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6207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0F"/>
          </a:solidFill>
          <a:ln xmlns:a="http://schemas.openxmlformats.org/drawingml/2006/main" w="0">
            <a:solidFill>
              <a:srgbClr val="0B0D0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2CAD72-CA19-47B6-B8E5-EC80BF623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57350"/>
            <a:ext cx="5143500" cy="4210050"/>
          </a:xfrm>
          <a:prstGeom xmlns:a="http://schemas.openxmlformats.org/drawingml/2006/main" prst="roundRect">
            <a:avLst>
              <a:gd name="adj" fmla="val 1810"/>
            </a:avLst>
          </a:prstGeom>
          <a:solidFill xmlns:a="http://schemas.openxmlformats.org/drawingml/2006/main">
            <a:srgbClr val="DDEDE5"/>
          </a:solidFill>
          <a:ln xmlns:a="http://schemas.openxmlformats.org/drawingml/2006/main" w="9525">
            <a:solidFill>
              <a:srgbClr val="1E74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2F792B-617E-41B0-95FF-E62574505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24050"/>
            <a:ext cx="22669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E7452"/>
          </a:solidFill>
          <a:ln xmlns:a="http://schemas.openxmlformats.org/drawingml/2006/main" w="0">
            <a:solidFill>
              <a:srgbClr val="1E745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AF7E8D-A47D-434A-B83C-2F2261B7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24050"/>
            <a:ext cx="2266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MILESTONE-ELIGIBLE USES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19A2A6-BF3C-41E7-A4C3-58048FD25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146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What funding unlocks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6EF426-F904-44BF-81D9-22E83C7E7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527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7452"/>
          </a:solidFill>
          <a:ln xmlns:a="http://schemas.openxmlformats.org/drawingml/2006/main" w="0">
            <a:solidFill>
              <a:srgbClr val="1E745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DF4ECF-A97F-43EE-AB52-270870487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527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CCBD60-3E06-41EC-9B26-8F33CC096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133725"/>
            <a:ext cx="4019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Outcome-independent evaluator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A119B1-8373-476D-9C08-830B19678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861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7452"/>
          </a:solidFill>
          <a:ln xmlns:a="http://schemas.openxmlformats.org/drawingml/2006/main" w="0">
            <a:solidFill>
              <a:srgbClr val="1E74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8FAB69-D806-4B68-AF72-74B4A5864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861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831F3C-DEB8-44AF-99BD-2D4C537A4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67125"/>
            <a:ext cx="4019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Controlled-data integration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08F582-BBC5-401B-BB10-C90930F5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195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7452"/>
          </a:solidFill>
          <a:ln xmlns:a="http://schemas.openxmlformats.org/drawingml/2006/main" w="0">
            <a:solidFill>
              <a:srgbClr val="1E745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8205D4-B1CB-4954-8650-E7E5F389E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195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58BDCA-FA03-4BAF-81AA-2E1E40A96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00525"/>
            <a:ext cx="4019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Security, insurance, and compliance work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51400C-1633-4ED0-8B3D-1BC961690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529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7452"/>
          </a:solidFill>
          <a:ln xmlns:a="http://schemas.openxmlformats.org/drawingml/2006/main" w="0">
            <a:solidFill>
              <a:srgbClr val="1E74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1018A6-DEFF-485F-B927-3973B01D9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529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B0815E-84AD-4609-9B22-A92248DA5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33925"/>
            <a:ext cx="4019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Buyer design sessions with written gates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12E6C3-9781-41A1-925F-97F56E309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05425"/>
            <a:ext cx="4324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E745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E7452"/>
                </a:solidFill>
                <a:latin typeface="Aptos"/>
                <a:ea typeface="Aptos"/>
                <a:cs typeface="Aptos"/>
              </a:rPr>
              <a:t>Milestone: an independently reproducible receipt and a written paid-expansion decision.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4A3509-3DE8-47FC-8200-76789B809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657350"/>
            <a:ext cx="5676900" cy="4210050"/>
          </a:xfrm>
          <a:prstGeom xmlns:a="http://schemas.openxmlformats.org/drawingml/2006/main" prst="roundRect">
            <a:avLst>
              <a:gd name="adj" fmla="val 1810"/>
            </a:avLst>
          </a:prstGeom>
          <a:solidFill xmlns:a="http://schemas.openxmlformats.org/drawingml/2006/main">
            <a:srgbClr val="F6E9C8"/>
          </a:solidFill>
          <a:ln xmlns:a="http://schemas.openxmlformats.org/drawingml/2006/main" w="9525">
            <a:solidFill>
              <a:srgbClr val="B8780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0E1BFD-FAE8-474D-AEF2-8C4F34259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24050"/>
            <a:ext cx="21526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B87800"/>
          </a:solidFill>
          <a:ln xmlns:a="http://schemas.openxmlformats.org/drawingml/2006/main" w="0">
            <a:solidFill>
              <a:srgbClr val="B878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B8CD05-A88C-47FA-A1FE-0269ACB5A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24050"/>
            <a:ext cx="2152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EXCLUDED WITHOUT APPROVAL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1D0EBD-E741-41F6-BFC4-D457E5013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146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B0D0F"/>
                </a:solidFill>
                <a:latin typeface="Aptos"/>
                <a:ea typeface="Aptos"/>
                <a:cs typeface="Aptos"/>
              </a:rPr>
              <a:t>What this deck does not authorize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A64809-C4C1-4E76-B0D0-41D20874C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1527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7800"/>
          </a:solidFill>
          <a:ln xmlns:a="http://schemas.openxmlformats.org/drawingml/2006/main" w="0">
            <a:solidFill>
              <a:srgbClr val="B8780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A4BC13-F6DA-4288-BAFD-3E76054FB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1527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22B39A-771E-46FB-A75F-C3B690130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133725"/>
            <a:ext cx="449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Valuation, dilution, or financing terms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129706-55F3-41F2-B1FA-A722656A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6861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7800"/>
          </a:solidFill>
          <a:ln xmlns:a="http://schemas.openxmlformats.org/drawingml/2006/main" w="0">
            <a:solidFill>
              <a:srgbClr val="B8780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ED9727-B300-4288-8DD5-EF6119FB7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6861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8570EB7-B4E6-405F-90EC-5B626ABEC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667125"/>
            <a:ext cx="449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Unrestricted scale or marketing spend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DA1DEAD-A5BF-47CF-A062-BCFC70178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2195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7800"/>
          </a:solidFill>
          <a:ln xmlns:a="http://schemas.openxmlformats.org/drawingml/2006/main" w="0">
            <a:solidFill>
              <a:srgbClr val="B8780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99D7A3F-255D-4923-8E6D-4D27D10E6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2195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65F9704-1B4F-478A-95D5-7D8806B48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200525"/>
            <a:ext cx="449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Live trading or autonomous external action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791557A-33E9-4451-BA9E-C34B35A57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7529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7800"/>
          </a:solidFill>
          <a:ln xmlns:a="http://schemas.openxmlformats.org/drawingml/2006/main" w="0">
            <a:solidFill>
              <a:srgbClr val="B8780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4CF4F28-B508-4C4F-9933-5A7FF1F28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7529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EDC18E7-023C-4169-8791-696D071EF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733925"/>
            <a:ext cx="449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B0D0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0D0F"/>
                </a:solidFill>
                <a:latin typeface="Aptos"/>
                <a:ea typeface="Aptos"/>
                <a:cs typeface="Aptos"/>
              </a:rPr>
              <a:t>Patent, legal, or certification assertions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A820912-11DD-43B9-B4D0-4E7F22D53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305425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780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87800"/>
                </a:solidFill>
                <a:latin typeface="Aptos"/>
                <a:ea typeface="Aptos"/>
                <a:cs typeface="Aptos"/>
              </a:rPr>
              <a:t>Amount, pricing, dilution, legal terms, and spend remain unapproved.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E6F11DF-7DC0-4EC6-908F-2DB09B0D5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0557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LUMENCORE | EVIDENCE-TO-PILOT BRIEF | 2026-08-02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B49083A-DA1C-4FC0-A5EB-671CAE2D0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5055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5D69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972"/>
                </a:solidFill>
                <a:latin typeface="Aptos"/>
                <a:ea typeface="Aptos"/>
                <a:cs typeface="Aptos"/>
              </a:rPr>
              <a:t>10/11</a:t>
            </a:r>
          </a:p>
        </p:txBody>
      </p:sp>
    </p:spTree>
    <p:extLst>
      <p:ext uri="{BB962C8B-B14F-4D97-AF65-F5344CB8AC3E}">
        <p14:creationId xmlns:p14="http://schemas.microsoft.com/office/powerpoint/2010/main" val="185394853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0D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B64548-999C-481B-996D-EF2E3D261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990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7F7A"/>
          </a:solidFill>
          <a:ln xmlns:a="http://schemas.openxmlformats.org/drawingml/2006/main" w="0">
            <a:solidFill>
              <a:srgbClr val="0A7F7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C47B07-C377-4BBC-8EFD-1A71AD28E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THE ASK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0DF36F-8BFB-4CC4-8698-C0192638D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19200"/>
            <a:ext cx="68580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Help us earn the first</a:t>
            </a:r>
          </a:p>
          <a:p xmlns:a="http://schemas.openxmlformats.org/drawingml/2006/main">
            <a:pPr algn="l"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independent proof receipt.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EE1358-9C60-4661-B346-335FC5EC6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05150"/>
            <a:ext cx="63436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C8D1D6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C8D1D6"/>
                </a:solidFill>
                <a:latin typeface="Aptos"/>
                <a:ea typeface="Aptos"/>
                <a:cs typeface="Aptos"/>
              </a:rPr>
              <a:t>LumenCore is ready for one named buyer, one accepted baseline, one controlled dataset, and one result an independent party can reproduce.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C80BF2-F987-4288-920F-A4F495644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819150"/>
            <a:ext cx="3981450" cy="4572000"/>
          </a:xfrm>
          <a:prstGeom xmlns:a="http://schemas.openxmlformats.org/drawingml/2006/main" prst="roundRect">
            <a:avLst>
              <a:gd name="adj" fmla="val 1914"/>
            </a:avLst>
          </a:prstGeom>
          <a:solidFill xmlns:a="http://schemas.openxmlformats.org/drawingml/2006/main">
            <a:srgbClr val="171E23"/>
          </a:solidFill>
          <a:ln xmlns:a="http://schemas.openxmlformats.org/drawingml/2006/main" w="9525">
            <a:solidFill>
              <a:srgbClr val="3B474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1D164F-9E19-4D54-99FD-7261DE68C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162050"/>
            <a:ext cx="3105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WHAT WE NEED FROM A DESIGN PARTNER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416148-5208-46F7-B7D3-E19DB850A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7526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432E76-83A2-43F5-B3CA-B1F64DF15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52600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Buyer introduction in energy, infrastructure, or agency work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3B3E3A-3450-4185-B37C-31EFD15E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62200"/>
            <a:ext cx="323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047"/>
          </a:solidFill>
          <a:ln xmlns:a="http://schemas.openxmlformats.org/drawingml/2006/main" w="0">
            <a:solidFill>
              <a:srgbClr val="34404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31645D-6031-4D5D-90A4-1E496A311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533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E9F8E1-29A4-4942-9B22-D1ED496E8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33650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Outcome-independent evaluator with a frozen protocol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DFCD89-38B0-4869-9106-7A2CC3743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43250"/>
            <a:ext cx="323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047"/>
          </a:solidFill>
          <a:ln xmlns:a="http://schemas.openxmlformats.org/drawingml/2006/main" w="0">
            <a:solidFill>
              <a:srgbClr val="34404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A0E294-B623-4418-8A95-A3C6276FA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3147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BFE8B6-8FEC-40F1-BFFB-2E678CBEB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314700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Qualified prime or contracting route when relevant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04D9A0-1EBD-48F2-8667-0E8D28F10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924300"/>
            <a:ext cx="323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047"/>
          </a:solidFill>
          <a:ln xmlns:a="http://schemas.openxmlformats.org/drawingml/2006/main" w="0">
            <a:solidFill>
              <a:srgbClr val="34404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7A0BB4-47FD-4F38-8A58-92B2B0B4C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0957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E121B4-D110-490A-A24B-9C42E046B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095750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Scoped paid pilot after written acceptance gates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9C354F-1621-41AA-AEF7-DF92EB8EE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8160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Robert Ashworth | Founder, LumenCore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189F57-9E98-40B1-B374-3F9AB4A35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19750"/>
            <a:ext cx="609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A7F7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A7F7A"/>
                </a:solidFill>
                <a:latin typeface="Aptos"/>
                <a:ea typeface="Aptos"/>
                <a:cs typeface="Aptos"/>
              </a:rPr>
              <a:t>Current software and protocol evidence. External performance validation next.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716BB2-3E3A-4012-90A9-00DD96454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0557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AAB5BC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AAB5BC"/>
                </a:solidFill>
                <a:latin typeface="Aptos"/>
                <a:ea typeface="Aptos"/>
                <a:cs typeface="Aptos"/>
              </a:rPr>
              <a:t>LUMENCORE | EVIDENCE-TO-PILOT BRIEF | 2026-08-02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BDB31E-2BAD-4DB9-82EE-17788C294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5055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AAB5BC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AAB5BC"/>
                </a:solidFill>
                <a:latin typeface="Aptos"/>
                <a:ea typeface="Aptos"/>
                <a:cs typeface="Aptos"/>
              </a:rPr>
              <a:t>11/11</a:t>
            </a:r>
          </a:p>
        </p:txBody>
      </p:sp>
    </p:spTree>
    <p:extLst>
      <p:ext uri="{BB962C8B-B14F-4D97-AF65-F5344CB8AC3E}">
        <p14:creationId xmlns:p14="http://schemas.microsoft.com/office/powerpoint/2010/main" val="5389647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2026-08-02T15:08:30.2370000Z</dcterms:created>
  <dcterms:modified xsi:type="dcterms:W3CDTF">2026-08-02T15:08:30.2370000Z</dcterms:modified>
</coreProperties>
</file>