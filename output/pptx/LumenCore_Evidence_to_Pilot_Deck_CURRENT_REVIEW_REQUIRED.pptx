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9c213e89954e5e" /><Relationship Type="http://schemas.openxmlformats.org/officeDocument/2006/relationships/extended-properties" Target="/docProps/app.xml" Id="R2427fa9041774fe6" /><Relationship Type="http://schemas.openxmlformats.org/officeDocument/2006/relationships/officeDocument" Target="/ppt/presentation.xml" Id="R94b9e095a8b445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59446cef4e4962"/>
  </p:sldMasterIdLst>
  <p:notesMasterIdLst>
    <p:notesMasterId xmlns:r="http://schemas.openxmlformats.org/officeDocument/2006/relationships" r:id="R2b8e095f144247ff"/>
  </p:notesMasterIdLst>
  <p:sldIdLst>
    <p:sldId xmlns:r="http://schemas.openxmlformats.org/officeDocument/2006/relationships" id="256" r:id="Rc5129198af2b4530"/>
    <p:sldId xmlns:r="http://schemas.openxmlformats.org/officeDocument/2006/relationships" id="257" r:id="Re9fd1f725be444f2"/>
    <p:sldId xmlns:r="http://schemas.openxmlformats.org/officeDocument/2006/relationships" id="258" r:id="R0e5da1f8ecab490d"/>
    <p:sldId xmlns:r="http://schemas.openxmlformats.org/officeDocument/2006/relationships" id="259" r:id="Rc3564f17f8b64fae"/>
    <p:sldId xmlns:r="http://schemas.openxmlformats.org/officeDocument/2006/relationships" id="260" r:id="R2b70cef0916949a2"/>
    <p:sldId xmlns:r="http://schemas.openxmlformats.org/officeDocument/2006/relationships" id="261" r:id="R4770aace0eaa4054"/>
    <p:sldId xmlns:r="http://schemas.openxmlformats.org/officeDocument/2006/relationships" id="262" r:id="Rde530ce04983438b"/>
    <p:sldId xmlns:r="http://schemas.openxmlformats.org/officeDocument/2006/relationships" id="263" r:id="R067068213269413d"/>
    <p:sldId xmlns:r="http://schemas.openxmlformats.org/officeDocument/2006/relationships" id="264" r:id="Rb9c3228d616f4ad2"/>
    <p:sldId xmlns:r="http://schemas.openxmlformats.org/officeDocument/2006/relationships" id="265" r:id="R99471f6b0b07409a"/>
    <p:sldId xmlns:r="http://schemas.openxmlformats.org/officeDocument/2006/relationships" id="266" r:id="R523e46f4e75b4d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ad04701af34427" /><Relationship Type="http://schemas.openxmlformats.org/officeDocument/2006/relationships/slideMaster" Target="/ppt/slideMasters/slideMaster1.xml" Id="R3959446cef4e4962" /><Relationship Type="http://schemas.openxmlformats.org/officeDocument/2006/relationships/notesMaster" Target="/ppt/notesMasters/notesMaster1.xml" Id="R2b8e095f144247ff" /><Relationship Type="http://schemas.openxmlformats.org/officeDocument/2006/relationships/presProps" Target="/ppt/presProps.xml" Id="R319cd78b39114413" /><Relationship Type="http://schemas.openxmlformats.org/officeDocument/2006/relationships/tableStyles" Target="/ppt/tableStyles.xml" Id="R82775e26900b43ab" /><Relationship Type="http://schemas.openxmlformats.org/officeDocument/2006/relationships/slide" Target="/ppt/slides/slide1.xml" Id="Rc5129198af2b4530" /><Relationship Type="http://schemas.openxmlformats.org/officeDocument/2006/relationships/slide" Target="/ppt/slides/slide2.xml" Id="Re9fd1f725be444f2" /><Relationship Type="http://schemas.openxmlformats.org/officeDocument/2006/relationships/slide" Target="/ppt/slides/slide3.xml" Id="R0e5da1f8ecab490d" /><Relationship Type="http://schemas.openxmlformats.org/officeDocument/2006/relationships/slide" Target="/ppt/slides/slide4.xml" Id="Rc3564f17f8b64fae" /><Relationship Type="http://schemas.openxmlformats.org/officeDocument/2006/relationships/slide" Target="/ppt/slides/slide5.xml" Id="R2b70cef0916949a2" /><Relationship Type="http://schemas.openxmlformats.org/officeDocument/2006/relationships/slide" Target="/ppt/slides/slide6.xml" Id="R4770aace0eaa4054" /><Relationship Type="http://schemas.openxmlformats.org/officeDocument/2006/relationships/slide" Target="/ppt/slides/slide7.xml" Id="Rde530ce04983438b" /><Relationship Type="http://schemas.openxmlformats.org/officeDocument/2006/relationships/slide" Target="/ppt/slides/slide8.xml" Id="R067068213269413d" /><Relationship Type="http://schemas.openxmlformats.org/officeDocument/2006/relationships/slide" Target="/ppt/slides/slide9.xml" Id="Rb9c3228d616f4ad2" /><Relationship Type="http://schemas.openxmlformats.org/officeDocument/2006/relationships/slide" Target="/ppt/slides/slide10.xml" Id="R99471f6b0b07409a" /><Relationship Type="http://schemas.openxmlformats.org/officeDocument/2006/relationships/slide" Target="/ppt/slides/slide11.xml" Id="R523e46f4e75b4d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d88e1f0a9648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6364230cce4208" /><Relationship Type="http://schemas.openxmlformats.org/officeDocument/2006/relationships/notesMaster" Target="/ppt/notesMasters/notesMaster1.xml" Id="R856d97a8872042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5f72bb923647ea" /><Relationship Type="http://schemas.openxmlformats.org/officeDocument/2006/relationships/notesMaster" Target="/ppt/notesMasters/notesMaster1.xml" Id="Rc85f3175d2604c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3a5500824649ef" /><Relationship Type="http://schemas.openxmlformats.org/officeDocument/2006/relationships/notesMaster" Target="/ppt/notesMasters/notesMaster1.xml" Id="R0c8f7b67671847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f0bf8b44244da2" /><Relationship Type="http://schemas.openxmlformats.org/officeDocument/2006/relationships/notesMaster" Target="/ppt/notesMasters/notesMaster1.xml" Id="Rce3a2383c6d448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76392098154ae2" /><Relationship Type="http://schemas.openxmlformats.org/officeDocument/2006/relationships/notesMaster" Target="/ppt/notesMasters/notesMaster1.xml" Id="Rd59eec2ad68145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110cc648c04e25" /><Relationship Type="http://schemas.openxmlformats.org/officeDocument/2006/relationships/notesMaster" Target="/ppt/notesMasters/notesMaster1.xml" Id="Rfcce97f1722149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40c138dff84793" /><Relationship Type="http://schemas.openxmlformats.org/officeDocument/2006/relationships/notesMaster" Target="/ppt/notesMasters/notesMaster1.xml" Id="Ra01032e9e9c149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f8e6b8c56e4f56" /><Relationship Type="http://schemas.openxmlformats.org/officeDocument/2006/relationships/notesMaster" Target="/ppt/notesMasters/notesMaster1.xml" Id="Re667ef7acdee48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1e72b8b0584313" /><Relationship Type="http://schemas.openxmlformats.org/officeDocument/2006/relationships/notesMaster" Target="/ppt/notesMasters/notesMaster1.xml" Id="R7d6b5733db774e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2e27636d5f41de" /><Relationship Type="http://schemas.openxmlformats.org/officeDocument/2006/relationships/notesMaster" Target="/ppt/notesMasters/notesMaster1.xml" Id="R3fa4a1a71d0540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a56f804c4d34e55" /><Relationship Type="http://schemas.openxmlformats.org/officeDocument/2006/relationships/notesMaster" Target="/ppt/notesMasters/notesMaster1.xml" Id="R5c4b2e15b0294e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docs/LUMENCORE_SOURCE_NATIVE_BENCHMARK_WHITEPAPER_CURRENT.md</a:t>
            </a:r>
          </a:p>
          <a:p xmlns:a="http://schemas.openxmlformats.org/drawingml/2006/main">
            <a:r>
              <a:t>- Local: config/prooflock_opportunity_ops_pilot_v1.json</a:t>
            </a:r>
          </a:p>
          <a:p xmlns:a="http://schemas.openxmlformats.org/drawingml/2006/main">
            <a:r>
              <a:t>- Boundary: current software and protocol evidence; no external performance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config/federal_reviewer_objection_register_v1.json</a:t>
            </a:r>
          </a:p>
          <a:p xmlns:a="http://schemas.openxmlformats.org/drawingml/2006/main">
            <a:r>
              <a:t>- Local: config/prooflock_opportunity_ops_pilot_v1.json</a:t>
            </a:r>
          </a:p>
          <a:p xmlns:a="http://schemas.openxmlformats.org/drawingml/2006/main">
            <a:r>
              <a:t>- The trust-break framing is an internal operating hypothesis, not a market statistic.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config/prooflock_opportunity_ops_pilot_v1.json</a:t>
            </a:r>
          </a:p>
          <a:p xmlns:a="http://schemas.openxmlformats.org/drawingml/2006/main">
            <a:r>
              <a:t>- Local: out/ops/prooflock_opportunity_ops_pilot/latest/prooflock_opportunity_ops_pilot_definition.json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config/prooflock_opportunity_ops_pilot_v1.json</a:t>
            </a:r>
          </a:p>
          <a:p xmlns:a="http://schemas.openxmlformats.org/drawingml/2006/main">
            <a:r>
              <a:t>- Target sectors and buyer roles are positioning hypotheses; no customer adoption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out/ops/source_native_family_baseline_ledger_latest.json</a:t>
            </a:r>
          </a:p>
          <a:p xmlns:a="http://schemas.openxmlformats.org/drawingml/2006/main">
            <a:r>
              <a:t>- Local: out/ops/market_signal_source_native_benchmark_latest.json</a:t>
            </a:r>
          </a:p>
          <a:p xmlns:a="http://schemas.openxmlformats.org/drawingml/2006/main">
            <a:r>
              <a:t>- Local: config/time_series_source_native_prospective_protocol_v1.json</a:t>
            </a:r>
          </a:p>
          <a:p xmlns:a="http://schemas.openxmlformats.org/drawingml/2006/main">
            <a:r>
              <a:t>- Local: out/ops/time_series_source_native_prospective_protocol_status.json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config/prooflock_opportunity_ops_pilot_v1.json</a:t>
            </a:r>
          </a:p>
          <a:p xmlns:a="http://schemas.openxmlformats.org/drawingml/2006/main">
            <a:r>
              <a:t>- Pricing is intentionally unquoted and requires buyer-specific founder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config/prooflock_opportunity_ops_pilot_v1.json</a:t>
            </a:r>
          </a:p>
          <a:p xmlns:a="http://schemas.openxmlformats.org/drawingml/2006/main">
            <a:r>
              <a:t>- Competitive placement is a positioning hypothesis; no market share or superiority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config/prooflock_opportunity_ops_pilot_v1.json</a:t>
            </a:r>
          </a:p>
          <a:p xmlns:a="http://schemas.openxmlformats.org/drawingml/2006/main">
            <a:r>
              <a:t>- Qualification gates are operating controls, not forecast conversion rates.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config/prooflock_opportunity_ops_pilot_v1.json</a:t>
            </a:r>
          </a:p>
          <a:p xmlns:a="http://schemas.openxmlformats.org/drawingml/2006/main">
            <a:r>
              <a:t>- Local: out/ops/prooflock_opportunity_ops_pilot/latest/prooflock_opportunity_ops_pilot_definition.json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docs/LUMENCORE_SOURCE_NATIVE_BENCHMARK_WHITEPAPER_CURRENT.md</a:t>
            </a:r>
          </a:p>
          <a:p xmlns:a="http://schemas.openxmlformats.org/drawingml/2006/main">
            <a:r>
              <a:t>- Local: config/prooflock_opportunity_ops_pilot_v1.json</a:t>
            </a:r>
          </a:p>
          <a:p xmlns:a="http://schemas.openxmlformats.org/drawingml/2006/main">
            <a:r>
              <a:t>- No funding amount, valuation, dilution, or spend authorization is represented.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docs/LUMENCORE_SOURCE_NATIVE_BENCHMARK_WHITEPAPER_CURRENT.md</a:t>
            </a:r>
          </a:p>
          <a:p xmlns:a="http://schemas.openxmlformats.org/drawingml/2006/main">
            <a:r>
              <a:t>- Local: config/prooflock_opportunity_ops_pilot_v1.json</a:t>
            </a:r>
          </a:p>
          <a:p xmlns:a="http://schemas.openxmlformats.org/drawingml/2006/main">
            <a:r>
              <a:t>- The ask is for a bounded validation relationship, not an external performance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b657719f8e45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5b724138d34d39" /><Relationship Type="http://schemas.openxmlformats.org/officeDocument/2006/relationships/slideLayout" Target="/ppt/slideLayouts/slideLayout1.xml" Id="R31d2c9ed55904d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d2c9ed55904d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44d2a01c94ee2" /><Relationship Type="http://schemas.openxmlformats.org/officeDocument/2006/relationships/image" Target="/ppt/media/image.png" Id="R30bfbcfed2a246f7" /><Relationship Type="http://schemas.openxmlformats.org/officeDocument/2006/relationships/notesSlide" Target="/ppt/notesSlides/notesSlide1.xml" Id="Re9f992ae987443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40a7830f1485a" /><Relationship Type="http://schemas.openxmlformats.org/officeDocument/2006/relationships/notesSlide" Target="/ppt/notesSlides/notesSlide2.xml" Id="Re0c82b679bcc44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228c3a53df41cf" /><Relationship Type="http://schemas.openxmlformats.org/officeDocument/2006/relationships/notesSlide" Target="/ppt/notesSlides/notesSlide3.xml" Id="Rfc22fed24f7e42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f7c40d68e4476" /><Relationship Type="http://schemas.openxmlformats.org/officeDocument/2006/relationships/notesSlide" Target="/ppt/notesSlides/notesSlide4.xml" Id="Rffc983f8ee9641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fb4411602b4c86" /><Relationship Type="http://schemas.openxmlformats.org/officeDocument/2006/relationships/notesSlide" Target="/ppt/notesSlides/notesSlide5.xml" Id="R6f2def54838840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3ee83fe2e4e45" /><Relationship Type="http://schemas.openxmlformats.org/officeDocument/2006/relationships/notesSlide" Target="/ppt/notesSlides/notesSlide6.xml" Id="R9598311916a747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8d4c699104789" /><Relationship Type="http://schemas.openxmlformats.org/officeDocument/2006/relationships/notesSlide" Target="/ppt/notesSlides/notesSlide7.xml" Id="R378501165b3d42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3d67205ee484d" /><Relationship Type="http://schemas.openxmlformats.org/officeDocument/2006/relationships/notesSlide" Target="/ppt/notesSlides/notesSlide8.xml" Id="R5b32c166576340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2f06e904a4592" /><Relationship Type="http://schemas.openxmlformats.org/officeDocument/2006/relationships/notesSlide" Target="/ppt/notesSlides/notesSlide9.xml" Id="R86842781295b4d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7f9857ed043bd" /><Relationship Type="http://schemas.openxmlformats.org/officeDocument/2006/relationships/notesSlide" Target="/ppt/notesSlides/notesSlide10.xml" Id="R01defbf5f0064b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42d86d8384496" /><Relationship Type="http://schemas.openxmlformats.org/officeDocument/2006/relationships/notesSlide" Target="/ppt/notesSlides/notesSlide11.xml" Id="Rfb6a13c13ad74c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CF2042-1941-4401-8939-13D16BFD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F7A"/>
          </a:solidFill>
          <a:ln xmlns:a="http://schemas.openxmlformats.org/drawingml/2006/main" w="0">
            <a:solidFill>
              <a:srgbClr val="0A7F7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C5697-FF34-46CA-8C8E-191BAB9C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LUMENCORE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5991D-EDAD-4BF8-8F1B-7DE62892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33525"/>
            <a:ext cx="495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Evidence-to-pilot infrastructure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for reviewable AI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972FF-BF9B-49AE-AF0A-3D8FEE5B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BD5D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DB"/>
                </a:solidFill>
                <a:latin typeface="Aptos"/>
                <a:ea typeface="Aptos"/>
                <a:cs typeface="Aptos"/>
              </a:rPr>
              <a:t>Turn a candidate method into a reproducible decision packet before any field or performance claim.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FF3AA-C951-4D54-8D9F-B07FEED4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12001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A7F7A"/>
          </a:solidFill>
          <a:ln xmlns:a="http://schemas.openxmlformats.org/drawingml/2006/main" w="0">
            <a:solidFill>
              <a:srgbClr val="0A7F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B7453-5336-470B-9C47-63D99ECB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REVIEW BUILD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E093D-EB3D-41FC-BBDB-4CB43F15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38650"/>
            <a:ext cx="2000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6E9C8"/>
          </a:solidFill>
          <a:ln xmlns:a="http://schemas.openxmlformats.org/drawingml/2006/main" w="0">
            <a:solidFill>
              <a:srgbClr val="F6E9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F36CBD-85D7-42D5-B892-3265C598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386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INDEPENDENT VALIDATION NEXT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EB11AA-54FF-4913-8BA3-C1E053D3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AB5B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5BC"/>
                </a:solidFill>
                <a:latin typeface="Aptos"/>
                <a:ea typeface="Aptos"/>
                <a:cs typeface="Aptos"/>
              </a:rPr>
              <a:t>Robert Ashworth | Founder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AAB5B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5BC"/>
                </a:solidFill>
                <a:latin typeface="Aptos"/>
                <a:ea typeface="Aptos"/>
                <a:cs typeface="Aptos"/>
              </a:rPr>
              <a:t>LumenCore |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1C983-5C75-4B47-A720-4A3CABEA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0550"/>
            <a:ext cx="5848350" cy="5238750"/>
          </a:xfrm>
          <a:prstGeom xmlns:a="http://schemas.openxmlformats.org/drawingml/2006/main" prst="roundRect">
            <a:avLst>
              <a:gd name="adj" fmla="val 1455"/>
            </a:avLst>
          </a:prstGeom>
          <a:solidFill xmlns:a="http://schemas.openxmlformats.org/drawingml/2006/main">
            <a:srgbClr val="20272C"/>
          </a:solidFill>
          <a:ln xmlns:a="http://schemas.openxmlformats.org/drawingml/2006/main" w="9525">
            <a:solidFill>
              <a:srgbClr val="3A454C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bfbcfed2a246f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742950"/>
            <a:ext cx="5543550" cy="4933950"/>
          </a:xfrm>
          <a:prstGeom xmlns:a="http://schemas.openxmlformats.org/drawingml/2006/main" prst="roundRect">
            <a:avLst>
              <a:gd name="adj" fmla="val 1158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3B93E0-30B4-45D1-B3CB-EDDE5F45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905500"/>
            <a:ext cx="544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AB5B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AB5BC"/>
                </a:solidFill>
                <a:latin typeface="Aptos"/>
                <a:ea typeface="Aptos"/>
                <a:cs typeface="Aptos"/>
              </a:rPr>
              <a:t>Local proof room snapshot | 2026-07-29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43A077-A356-4E6D-932C-F31E280C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AAB5B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AB5BC"/>
                </a:solidFill>
                <a:latin typeface="Aptos"/>
                <a:ea typeface="Aptos"/>
                <a:cs typeface="Aptos"/>
              </a:rPr>
              <a:t>LUMENCORE | EVIDENCE-TO-PILOT BRIEF | 2026-07-29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41B83D-09F3-47D0-9A3C-6C2C420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AAB5B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AB5BC"/>
                </a:solidFill>
                <a:latin typeface="Aptos"/>
                <a:ea typeface="Aptos"/>
                <a:cs typeface="Aptos"/>
              </a:rPr>
              <a:t>1/11</a:t>
            </a:r>
          </a:p>
        </p:txBody>
      </p:sp>
    </p:spTree>
    <p:extLst>
      <p:ext uri="{BB962C8B-B14F-4D97-AF65-F5344CB8AC3E}">
        <p14:creationId xmlns:p14="http://schemas.microsoft.com/office/powerpoint/2010/main" val="3674097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0955D6-FE0A-4A80-9BA0-15907256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0C56F-F3A9-4C55-A1EC-60985FC8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Evidence fails before models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611C1-948A-427E-86A0-E3E18C99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1E634-4194-4A5C-B4A3-A089752C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4FFFE-E580-4B9F-91AE-103E5E2D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In high-consequence operations, a buyer is not purchasing a score. The buyer is purchasing a defensible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AADB0-38E9-48D1-B80A-1F8A65C5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14625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 strong result can still fail review when the evidence trail cannot answer four basic questions.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1C219-09E4-4B49-9905-81C7B5B4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F7A"/>
          </a:solidFill>
          <a:ln xmlns:a="http://schemas.openxmlformats.org/drawingml/2006/main" w="0">
            <a:solidFill>
              <a:srgbClr val="0A7F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77298-5796-44EA-A3BD-8C0785F4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955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FEF2D0-198E-49CC-AF06-B344D650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Dataset identity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and allowed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01C451-927F-4F55-85FA-0C1BFBD9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671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D91"/>
          </a:solidFill>
          <a:ln xmlns:a="http://schemas.openxmlformats.org/drawingml/2006/main" w="0">
            <a:solidFill>
              <a:srgbClr val="1D5D9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A8D9C5-335A-45E0-B33F-76A47DA5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1955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C2041-5246-4440-89EA-AF5B4943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767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Baseline and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metric lock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07A255-B303-494F-B6B1-688E5FD5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671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35186-5822-4855-BF47-2BD5BEA0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1955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3003CD-E9FD-4D5A-86B3-64ACE4F2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767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Negative results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and uncertainty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642E30-5491-4192-9A80-DE8E7A38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671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595111-7703-4800-BEA5-22F61345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1955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C24F1C-9963-4EA8-9897-57F6ED25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767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Receipt, owner,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and next 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6C5B5B-125F-445F-BA0C-300501C6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57350"/>
            <a:ext cx="493395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CB8428-1A34-4428-9B44-BCE27F57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526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444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84444"/>
                </a:solidFill>
                <a:latin typeface="Aptos"/>
                <a:ea typeface="Aptos"/>
                <a:cs typeface="Aptos"/>
              </a:rPr>
              <a:t>WHAT BREAKS TRUST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ADD64A-427F-48CE-84A4-7EEC9272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14650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1"/>
          </a:solidFill>
          <a:ln xmlns:a="http://schemas.openxmlformats.org/drawingml/2006/main" w="0">
            <a:solidFill>
              <a:srgbClr val="E9EEF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960C91-789C-49FB-BB23-C0047819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43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Data leakage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6D408B-6689-4B99-967F-251C1D64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4315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Future information contaminates the test.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74190A-E328-4BD7-AEB3-BF1D36EB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95700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1"/>
          </a:solidFill>
          <a:ln xmlns:a="http://schemas.openxmlformats.org/drawingml/2006/main" w="0">
            <a:solidFill>
              <a:srgbClr val="E9EEF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71DC4C-F5C9-4356-AF4A-41F495DD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242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Moving goalposts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864AE4-FAC5-4CE3-89A6-9F5A7F2A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242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Baselines or metrics change after results appear.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393E08-1993-4ACD-A903-C529159D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76750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1"/>
          </a:solidFill>
          <a:ln xmlns:a="http://schemas.openxmlformats.org/drawingml/2006/main" w="0">
            <a:solidFill>
              <a:srgbClr val="E9EEF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0E1485-6287-4D88-A589-51752760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Hidden negatives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1E9EC4-B0C0-4E65-9611-60F3A641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0525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Only favorable runs survive into the deck.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949084-68AB-4EFF-8C57-175B2852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57800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1"/>
          </a:solidFill>
          <a:ln xmlns:a="http://schemas.openxmlformats.org/drawingml/2006/main" w="0">
            <a:solidFill>
              <a:srgbClr val="E9EEF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F5FCD1-DB77-4557-A83F-D55F4DDD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86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No custody trail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25AE65-B7EB-4626-A0D6-C07686E9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6863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The artifact cannot be tied to code, data, or time.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351E11-B409-4D47-9FB8-5E48AD90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EVIDENCE-TO-PILOT BRIEF | 2026-07-29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9B3306-E945-456C-B941-C871B08C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2/11</a:t>
            </a:r>
          </a:p>
        </p:txBody>
      </p:sp>
    </p:spTree>
    <p:extLst>
      <p:ext uri="{BB962C8B-B14F-4D97-AF65-F5344CB8AC3E}">
        <p14:creationId xmlns:p14="http://schemas.microsoft.com/office/powerpoint/2010/main" val="709079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51E07B-F747-4C84-80C6-C24C8077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997F9-5734-4380-8807-CFC4BCAF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One bounded workflow from claim to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A8F84-403A-4604-B304-5C8B894B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1AF16-44F3-4498-8CA5-897EBE55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F9A95-0F33-4CAE-ACD2-29341061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makes the evidence path explicit before any claim is promoted.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40B7B-1F41-4D47-9865-A9E6FADF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21336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19050">
            <a:solidFill>
              <a:srgbClr val="0A7F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9C3CB-7F3B-4FBC-A408-D69467C3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21336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FEAF3"/>
          </a:solidFill>
          <a:ln xmlns:a="http://schemas.openxmlformats.org/drawingml/2006/main" w="19050">
            <a:solidFill>
              <a:srgbClr val="1D5D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E7833-2050-4FB9-9CE0-91906CFA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21336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6E9C8"/>
          </a:solidFill>
          <a:ln xmlns:a="http://schemas.openxmlformats.org/drawingml/2006/main" w="19050">
            <a:solidFill>
              <a:srgbClr val="B878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5014D-AEF7-4708-8A10-21E0B666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71750"/>
            <a:ext cx="21336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19050">
            <a:solidFill>
              <a:srgbClr val="1E7452"/>
            </a:solidFill>
            <a:prstDash val="solid"/>
          </a:ln>
        </p:spPr>
      </p:sp>
      <p:cxnSp>
        <p:nvCxnSpPr>
          <p:cNvPr id="6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67000" y="35718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D0F"/>
            </a:solidFill>
            <a:prstDash val="solid"/>
            <a:tailEnd type="arrow" w="med" len="med"/>
          </a:ln>
        </p:spPr>
      </p:cxnSp>
      <p:cxnSp>
        <p:nvCxnSpPr>
          <p:cNvPr id="6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486400" y="35718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D0F"/>
            </a:solidFill>
            <a:prstDash val="solid"/>
            <a:tailEnd type="arrow" w="med" len="med"/>
          </a:ln>
        </p:spPr>
      </p:cxnSp>
      <p:cxnSp>
        <p:nvCxnSpPr>
          <p:cNvPr id="6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305800" y="35718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D0F"/>
            </a:solidFill>
            <a:prstDash val="solid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79978C-98E2-48D1-A112-FA2386E0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60BB15-1EB9-4D89-AE34-80B5021E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FREEZE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2BBBF1-49A4-4C47-9E60-D4CA5312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676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Dataset, baseline, metric, window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C1343A-E961-4DD6-AF46-ECFB7727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81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D5D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5D9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45E74F-D47C-4BDD-AAB1-9A35C863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71825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REPLAY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0F8981-E9C7-4510-8BB4-F5335A64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33800"/>
            <a:ext cx="1676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Past-only execution with held-out windows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3548CA-BC69-4F07-AEE8-C7A15475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5925C4-7139-4FDD-8EDA-2D903DCF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71825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0BB873-656A-40DF-AD21-86EA482B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33800"/>
            <a:ext cx="1676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Uncertainty, abstention, and negative-result checks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48FD78-6368-41FA-870E-D7997070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81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E74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745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099FFC-2BE6-4FB3-81A9-6279876E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71825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RECEIPT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4A028E-6E4E-49B0-B6E3-FA5981A3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33800"/>
            <a:ext cx="1676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Hash, custody record, owner, and pilot 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BF1E04-5DD1-4A14-8A39-6A0E5A8F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95875"/>
            <a:ext cx="430530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DE8E17-EF8D-4178-9BBE-08504A38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95875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 APPROVAL BEFORE EXTERNAL RELEASE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0183AA-CC3A-4A3D-BC7A-5BA3F489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6959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Output: a reviewer-readable packet that can be reproduced, challenged, and used to decide whether a scoped pilot is warranted.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80B0BB-5347-424A-A9A9-8BF09BA0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EVIDENCE-TO-PILOT BRIEF | 2026-07-29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0571CC-56E0-4E6B-B973-34016D94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3/11</a:t>
            </a:r>
          </a:p>
        </p:txBody>
      </p:sp>
    </p:spTree>
    <p:extLst>
      <p:ext uri="{BB962C8B-B14F-4D97-AF65-F5344CB8AC3E}">
        <p14:creationId xmlns:p14="http://schemas.microsoft.com/office/powerpoint/2010/main" val="7522475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09C592-A3F9-449D-B8BC-F82BCD23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CUSTOMER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D6B01-6154-438A-8170-8CCF12BD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Start where one bad decision is expensive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32453-74D9-48BD-B0D6-3FC82067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B3FA6-0BF4-4C89-9CD0-A24D8756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93B81-FE30-4C22-A429-ECAEC23B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Target hypothesis: organizations with costly reliability, planning, or forecasting errors and an incumbent baseline they already trust.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E5F02-7133-4B45-908B-A7DAA69C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43175"/>
            <a:ext cx="3124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F7A"/>
          </a:solidFill>
          <a:ln xmlns:a="http://schemas.openxmlformats.org/drawingml/2006/main" w="0">
            <a:solidFill>
              <a:srgbClr val="0A7F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81B7F-5CC4-4492-A2F5-A91F5B93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71775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UTILITY / GRID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5C5DD-F31A-4BFB-BD3A-50E482BC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623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BUYER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87F27-810D-456D-989B-A5C99BC1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90925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Analytics or operations lead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D80AFE-DF5E-4892-8F81-9AB0BF4B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576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TRIGGER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FFF37-1F83-4391-8F2A-62379B50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86275"/>
            <a:ext cx="312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 planning or forecasting model cannot clear internal review.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26D904-99F8-4F59-B10C-F72647C1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816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PILOT 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600339-461A-453D-BA60-7C817DBD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0225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Decision receipt + replay package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004008-057C-42F7-AF6A-31BB319D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43175"/>
            <a:ext cx="3124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D91"/>
          </a:solidFill>
          <a:ln xmlns:a="http://schemas.openxmlformats.org/drawingml/2006/main" w="0">
            <a:solidFill>
              <a:srgbClr val="1D5D9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FA708-DD8F-4A21-B5BC-142652FA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71775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LAB / AGENCY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601901-B2E5-43CC-B80B-5628ED25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623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BUYER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9BA466-D314-45B0-92F0-BFCF8296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90925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Program or technical lead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860566-EB95-44C1-8F4B-15B92B4A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576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TRIGGER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FB97F6-1049-438C-A8C2-AF0237F8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86275"/>
            <a:ext cx="312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 research result needs a reproducible route to a field partner.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954ECE-13CF-469F-85F8-BE3EC992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3816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PILOT OUTCOME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99A051-0520-45A9-90A3-34AD44BB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10225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D5D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5D91"/>
                </a:solidFill>
                <a:latin typeface="Aptos"/>
                <a:ea typeface="Aptos"/>
                <a:cs typeface="Aptos"/>
              </a:rPr>
              <a:t>Reviewer packet + validation plan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654C18-97E6-484D-B696-D78B7B44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43175"/>
            <a:ext cx="3124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EF35D4-71DE-4BC0-B41B-B293B23E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71775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INDUSTRIAL RELIABILITY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A2BFEA-2A32-4B95-8E8A-AF94D9F6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623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BUYER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365D35-88DB-4C66-AAC6-36C273AB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90925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Reliability or asset lead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7B20BC-D37E-4C07-993C-05255A9A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576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TRIGGER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771650-F5AC-4E8F-A9C0-218243CE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86275"/>
            <a:ext cx="312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 failure-risk signal needs proof against the incumbent rule or model.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7F9E67-3CAA-44CE-A91F-0BECED2C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816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PILOT OUTCOME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0C630E-9537-4B4C-AC6D-A980AE7A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610225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Scoped pilot + accepted evidence gate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788437-1DCE-4CEB-AF9C-C2D2DA5A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EVIDENCE-TO-PILOT BRIEF | 2026-07-29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B2CB11-F4FA-4D41-BB43-26A08DF6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4/11</a:t>
            </a:r>
          </a:p>
        </p:txBody>
      </p:sp>
    </p:spTree>
    <p:extLst>
      <p:ext uri="{BB962C8B-B14F-4D97-AF65-F5344CB8AC3E}">
        <p14:creationId xmlns:p14="http://schemas.microsoft.com/office/powerpoint/2010/main" val="20779440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0D8BCC-8132-456C-84D3-B2EC04CA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EVIDENCE POSTURE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179E3-658E-45C4-ADBE-8A498C12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Current evidence is measurable, including the negative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DDCD2-4860-490A-9ADB-66770FEC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46BD4-A1F5-46B2-9994-2556BFC8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CAD72-CA19-47B6-B8E5-EC80BF62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14350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9525">
            <a:solidFill>
              <a:srgbClr val="1E74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F792B-617E-41B0-95FF-E6257450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22669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F7E8D-A47D-434A-B83C-2F2261B7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SOURCE-NATIVE LEDGER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9A2A6-BF3C-41E7-A4C3-58048FD2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Retrospective benchmark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EF426-F904-44BF-81D9-22E83C7E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F4ECF-A97F-43EE-AB52-27087048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CBD60-3E06-41EC-9B26-8F33CC09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337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140 registered families; 35 implementations present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119B1-8373-476D-9C08-830B1967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86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FAB69-D806-4B68-AF72-74B4A586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861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31F3C-DEB8-44AF-99BD-2D4C537A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671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120 direct comparisons across 22 candidate-source cards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8F582-BBC5-401B-BB10-C90930F5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9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8205D4-B1CB-4954-8650-E7E5F389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95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58BDCA-FA03-4BAF-81AA-2E1E40A9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005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0 global Holm-positive comparisons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51400C-1633-4ED0-8B3D-1BC96169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52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1018A6-DEFF-485F-B927-3973B01D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529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B0815E-84AD-4609-9B22-A92248DA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339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0 promoted champions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12E6C3-9781-41A1-925F-97F56E30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05425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E745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7452"/>
                </a:solidFill>
                <a:latin typeface="Aptos"/>
                <a:ea typeface="Aptos"/>
                <a:cs typeface="Aptos"/>
              </a:rPr>
              <a:t>Supports bounded software, custody, and protocol review. No alpha, superiority, savings, or field claim.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4A3509-3DE8-47FC-8200-76789B80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57350"/>
            <a:ext cx="567690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F6E9C8"/>
          </a:solidFill>
          <a:ln xmlns:a="http://schemas.openxmlformats.org/drawingml/2006/main" w="9525">
            <a:solidFill>
              <a:srgbClr val="B878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0E1BFD-FAE8-474D-AEF2-8C4F3425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21526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B8CD05-A88C-47FA-A1FE-0269ACB5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FROZEN PROSPECTIVE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1D0EBD-E741-41F6-BFC4-D457E501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14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Future-only validation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A64809-C4C1-4E76-B0D0-41D20874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A4BC13-F6DA-4288-BAFD-3E76054F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527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22B39A-771E-46FB-A75F-C3B69013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337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Eight source-native baselines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129706-55F3-41F2-B1FA-A722656A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86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ED9727-B300-4288-8DD5-EF6119FB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861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570EB7-B4E6-405F-90EC-5B626ABE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671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Sixteen one-sided Holm contrasts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A1DEAD-A5BF-47CF-A062-BCFC7017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9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9D7A3F-255D-4923-8E6D-4D27D10E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95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5F9704-1B4F-478A-95D5-7D8806B4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005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520 future daily sessions or 60 monthly releases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91557A-33E9-4451-BA9E-C34B35A5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52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CF4F28-B508-4C4F-9933-5A7FF1F2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529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DC18E7-023C-4169-8791-696D071E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339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Zero eligible future observations today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820912-11DD-43B9-B4D0-4E7F22D5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054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Protocol LUMENCORE_TS_SOURCE_NATIVE_20260729_V1 is frozen and waiting for new source rows.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6F11DF-7DC0-4EC6-908F-2DB09B0D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EVIDENCE-TO-PILOT BRIEF | 2026-07-29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49083A-DA1C-4FC0-A5EB-671CAE2D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5/11</a:t>
            </a:r>
          </a:p>
        </p:txBody>
      </p:sp>
    </p:spTree>
    <p:extLst>
      <p:ext uri="{BB962C8B-B14F-4D97-AF65-F5344CB8AC3E}">
        <p14:creationId xmlns:p14="http://schemas.microsoft.com/office/powerpoint/2010/main" val="18539485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77485F-7B7B-4430-81DF-DC86D07D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7946D-05D8-4D9C-8855-CDBB47B4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Commercial path begins with an accepted evidence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9E773-C846-4A55-B3C0-7C79B6B3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E1FF1-CF96-42A7-A6AD-2F278203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32884-DAB4-4BCC-BF05-75712A66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Three offers create a bounded entry, a controlled validation event, and a post-pilot expansion path.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C9D70-F2A1-4E02-81FC-E40C9994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3124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F7A"/>
          </a:solidFill>
          <a:ln xmlns:a="http://schemas.openxmlformats.org/drawingml/2006/main" w="0">
            <a:solidFill>
              <a:srgbClr val="0A7F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86983-A844-4C8D-A5BA-3D244C8A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1. EVIDENCE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D7142C-FAAF-49DD-AA4A-AA062B52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67075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SCOPED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D318FE-542C-4BDF-8615-21676980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9525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Price unquoted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532AD-588D-4015-AB77-8AABA250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76725"/>
            <a:ext cx="312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Define the decision, lock the incumbent baseline, and produce a reviewer-ready evidence plan.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91A4A-72BD-4525-A035-AC515308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Buyer: Technical sponsor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722689-6DB3-4C6C-B4C6-ED7E5630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05075"/>
            <a:ext cx="3124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D91"/>
          </a:solidFill>
          <a:ln xmlns:a="http://schemas.openxmlformats.org/drawingml/2006/main" w="0">
            <a:solidFill>
              <a:srgbClr val="1D5D9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61E1B-D92F-4021-AA38-4AF33240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6225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5D9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5D91"/>
                </a:solidFill>
                <a:latin typeface="Aptos"/>
                <a:ea typeface="Aptos"/>
                <a:cs typeface="Aptos"/>
              </a:rPr>
              <a:t>2. CONTROLLED PILOT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90F69D-E83A-44AD-B420-48EA45D2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67075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GATED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2707B8-E310-4831-AD87-9A6825DB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19525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Buyer-defined 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C9C23F-6CAA-4611-A414-FB332A77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76725"/>
            <a:ext cx="312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Replay buyer-controlled data against a written acceptance gate and issue an auditable receipt.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344D9D-D0FC-4E5E-AD59-C53ED373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5626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Buyer: Design partner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4C9D84-D3DD-42E7-83F0-B87F236E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05075"/>
            <a:ext cx="3124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DA6A31-ECB2-426F-BA93-50AEB173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E745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7452"/>
                </a:solidFill>
                <a:latin typeface="Aptos"/>
                <a:ea typeface="Aptos"/>
                <a:cs typeface="Aptos"/>
              </a:rPr>
              <a:t>3. PROGRAM LICENSE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E8124D-7B8F-4357-B80E-622BE324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67075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POST-PILOT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4AB53B-80F1-4F97-89E7-39423006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9525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After accepted receipt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692AF7-98FD-4FDD-8E6B-E52E2960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76725"/>
            <a:ext cx="312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Automate repeatable reviews, evidence custody, governance, support, and approved workflows.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021C1E-609A-4FF9-B1EC-30133E8F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626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Buyer: Program owner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C82DC7-37F5-45D4-B0D1-41EF20EE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No pricing, paid customer, savings, or contract is claimed. Scope and price require founder approval.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745A18-749B-463B-A61E-16D1E77C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EVIDENCE-TO-PILOT BRIEF | 2026-07-29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62B0B6-F006-4C14-88FF-061EEC9F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6/11</a:t>
            </a:r>
          </a:p>
        </p:txBody>
      </p:sp>
    </p:spTree>
    <p:extLst>
      <p:ext uri="{BB962C8B-B14F-4D97-AF65-F5344CB8AC3E}">
        <p14:creationId xmlns:p14="http://schemas.microsoft.com/office/powerpoint/2010/main" val="18178841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C158CB-4299-43A2-A07E-1D7662E8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COMPETITIVE LANDSCAPE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6ACB3-36CD-4D51-9380-644D7E2F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Positioned between model tooling and audit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8C30B-8226-4E17-8919-9CE67653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860CA-CF96-4AE2-AB79-4285943B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CDF04-F849-4692-943F-B0B26DBE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The wedge is not another model leaderboard. It is an evidence operating layer for decisions that must survive review.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5377B-47C6-4E8F-9CC8-827FA7A7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578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17E9F-C3AA-42AF-A734-8A8089FC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051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3A8ED-E364-48EB-B3AF-729A6766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0510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1"/>
          </a:solidFill>
          <a:ln xmlns:a="http://schemas.openxmlformats.org/drawingml/2006/main" w="0">
            <a:solidFill>
              <a:srgbClr val="E9EE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F42D5-DA03-4554-B13E-AC6BF5B4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8147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1"/>
          </a:solidFill>
          <a:ln xmlns:a="http://schemas.openxmlformats.org/drawingml/2006/main" w="0">
            <a:solidFill>
              <a:srgbClr val="E9EE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2F3EE8-1682-4892-996C-9AD7419C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91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LOW AUDITABILITY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F46BE6-07AC-4AA1-B210-A3038B1E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791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HIGH AUDITABILITY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286A1-2BA9-426B-881A-E467D3F6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05100"/>
            <a:ext cx="57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REPEATABLE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6E455B-0067-456E-8E81-56907D49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91100"/>
            <a:ext cx="57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BESPOKE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F7A7D4-0CA3-445B-87A7-BCD3519B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7148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697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10DEE6-FCE6-47C1-8586-701AED4D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638675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AD HOC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ANALYSIS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6B0BD1-5800-4DF9-9031-663E3AB1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52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D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5CAE38-15C5-4460-93FE-D077F947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7660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D5D9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5D91"/>
                </a:solidFill>
                <a:latin typeface="Aptos"/>
                <a:ea typeface="Aptos"/>
                <a:cs typeface="Aptos"/>
              </a:rPr>
              <a:t>GENERIC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D5D9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5D91"/>
                </a:solidFill>
                <a:latin typeface="Aptos"/>
                <a:ea typeface="Aptos"/>
                <a:cs typeface="Aptos"/>
              </a:rPr>
              <a:t>MLOPS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8C944C-3791-4285-BBB8-2728E3C1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24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245ED6-4FC2-4835-874C-FEFFAD76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448175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CONSULTING /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AUDIT PROJECT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CF8E08-3803-4F60-A38E-8BCB4F37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7F7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380D23-5577-48A9-BB01-E4AB4B9E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6705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LUMENCORE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TARGET POSITION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23BF53-F49B-41DA-B99C-73CD12AE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86050"/>
            <a:ext cx="2552700" cy="29718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B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140AD7-BC80-465A-B0F1-A56ACE9B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527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DISTINCTIVE CONTROLS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B46843-8B5B-48F7-92DF-4077A0A7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33750"/>
            <a:ext cx="20193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Past-only replay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Frozen baseline and metric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Visible negatives and abstention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Hashable custody receipt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Human release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260D44-8CB1-4862-B364-D251FF39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82930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Positioning hypothesis; not a market-share or superiority claim.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979862-78F2-42D8-9FD8-C4535FF8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EVIDENCE-TO-PILOT BRIEF | 2026-07-29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9F0175-1F8F-42F3-8555-526F3199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7/11</a:t>
            </a:r>
          </a:p>
        </p:txBody>
      </p:sp>
    </p:spTree>
    <p:extLst>
      <p:ext uri="{BB962C8B-B14F-4D97-AF65-F5344CB8AC3E}">
        <p14:creationId xmlns:p14="http://schemas.microsoft.com/office/powerpoint/2010/main" val="5640955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5DE500-5E34-4BE8-BBBD-DCD2CB54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GO-TO-MARKET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64644-C96A-44F8-B1CF-77454F5F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Qualify one hard problem, prove it, then expand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8433A-BC97-48FE-BE25-B1147204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E93D4-194A-491A-9486-8C335CEE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0342A-9FE1-4C7E-B8A6-3D18A894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The near-term objective is one serious design partner with controlled data and an accepted incumbent baseline.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01D9B-60CF-4C28-9C91-8B94F338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28575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7F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11082-9A06-43B3-8A55-2B2AF8A8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81300"/>
            <a:ext cx="28575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5D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5A913C-40C9-4907-8AB4-F7D32087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81300"/>
            <a:ext cx="28575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7452"/>
            </a:solidFill>
            <a:prstDash val="solid"/>
          </a:ln>
        </p:spPr>
      </p:sp>
      <p:cxnSp>
        <p:nvCxnSpPr>
          <p:cNvPr id="5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19500" y="39147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D0F"/>
            </a:solidFill>
            <a:prstDash val="solid"/>
            <a:tailEnd type="arrow" w="med" len="med"/>
          </a:ln>
        </p:spPr>
      </p:cxnSp>
      <p:cxnSp>
        <p:nvCxnSpPr>
          <p:cNvPr id="5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048500" y="39147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D0F"/>
            </a:solidFill>
            <a:prstDash val="solid"/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84FC8-5DA2-4C17-A479-630FCE20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90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F24336-CC85-47FE-A07E-8A1C0928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QUALIFY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CE9910-0DC3-4671-B7A4-B7F9263C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7667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Confirm the owner, decision, data rights, baseline, cost of error, and approval path.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7162AB-9B9C-4A91-B760-784E408F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Gate: written problem + baseline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1E1D67-FF2E-41E2-A401-1DCBB7A6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90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D5D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5D9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D9F612-D348-4299-8B34-AB37FD7F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PROVE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16A5DA-DC23-4C8A-B5DD-EED5991D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7667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Run a preregistered replay on buyer-controlled data and preserve every favorable and unfavorable result.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25CAAB-D8DA-4196-B4AA-F5A918E7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86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D5D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5D91"/>
                </a:solidFill>
                <a:latin typeface="Aptos"/>
                <a:ea typeface="Aptos"/>
                <a:cs typeface="Aptos"/>
              </a:rPr>
              <a:t>Gate: accepted evidence receipt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951075-8E4C-4CEE-A624-90AD412F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90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E74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745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D497C8-6B72-4717-838C-9438AA1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33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EXPAND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08BDE7-5B41-4200-84E6-FB16869E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7667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Convert the accepted pilot into repeatable workflows, annual support, and adjacent decisions.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C67083-A157-4B68-A0A8-924CA177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86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E74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7452"/>
                </a:solidFill>
                <a:latin typeface="Aptos"/>
                <a:ea typeface="Aptos"/>
                <a:cs typeface="Aptos"/>
              </a:rPr>
              <a:t>Gate: paid renewal or license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485B64-68FE-4C62-B30A-E0227C28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2FDBDE-31F6-4F27-A5AE-3ADFA7D3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QUALIFICATION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E83099-25CD-4F84-9ED2-26C5D361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524500"/>
            <a:ext cx="817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Named owner  |  accepted baseline  |  controlled dataset  |  written acceptance test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0C0727-2887-46DB-8D08-FE0EC29F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EVIDENCE-TO-PILOT BRIEF | 2026-07-29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E226E1-7A0E-453D-87F2-52E337BD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8/11</a:t>
            </a:r>
          </a:p>
        </p:txBody>
      </p:sp>
    </p:spTree>
    <p:extLst>
      <p:ext uri="{BB962C8B-B14F-4D97-AF65-F5344CB8AC3E}">
        <p14:creationId xmlns:p14="http://schemas.microsoft.com/office/powerpoint/2010/main" val="9885805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0D8BCC-8132-456C-84D3-B2EC04CA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PILOT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179E3-658E-45C4-ADBE-8A498C12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A paid pilot is defined by acceptance, not a sales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DDCD2-4860-490A-9ADB-66770FEC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46BD4-A1F5-46B2-9994-2556BFC8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CAD72-CA19-47B6-B8E5-EC80BF62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14350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9525">
            <a:solidFill>
              <a:srgbClr val="1E74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F792B-617E-41B0-95FF-E6257450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22669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F7E8D-A47D-434A-B83C-2F2261B7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BUYER SUPPLIES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9A2A6-BF3C-41E7-A4C3-58048FD2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Controlled 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EF426-F904-44BF-81D9-22E83C7E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F4ECF-A97F-43EE-AB52-27087048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CBD60-3E06-41EC-9B26-8F33CC09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337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Named decision owner and operating 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119B1-8373-476D-9C08-830B1967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86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FAB69-D806-4B68-AF72-74B4A586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861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31F3C-DEB8-44AF-99BD-2D4C537A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671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Lawfully controlled data with allowed-use terms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8F582-BBC5-401B-BB10-C90930F5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9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8205D4-B1CB-4954-8650-E7E5F389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95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58BDCA-FA03-4BAF-81AA-2E1E40A9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005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Accepted incumbent baseline and metric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51400C-1633-4ED0-8B3D-1BC96169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52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1018A6-DEFF-485F-B927-3973B01D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529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B0815E-84AD-4609-9B22-A92248DA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339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Written cost-of-error and acceptance 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12E6C3-9781-41A1-925F-97F56E30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05425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E745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7452"/>
                </a:solidFill>
                <a:latin typeface="Aptos"/>
                <a:ea typeface="Aptos"/>
                <a:cs typeface="Aptos"/>
              </a:rPr>
              <a:t>Inputs define the decision contract before any pilot price, schedule, or outcome is represented.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4A3509-3DE8-47FC-8200-76789B80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57350"/>
            <a:ext cx="567690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F6E9C8"/>
          </a:solidFill>
          <a:ln xmlns:a="http://schemas.openxmlformats.org/drawingml/2006/main" w="9525">
            <a:solidFill>
              <a:srgbClr val="B878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0E1BFD-FAE8-474D-AEF2-8C4F3425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21526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B8CD05-A88C-47FA-A1FE-0269ACB5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LUMENCORE RETURNS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1D0EBD-E741-41F6-BFC4-D457E501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14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Auditable receipt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A64809-C4C1-4E76-B0D0-41D20874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A4BC13-F6DA-4288-BAFD-3E76054F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527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22B39A-771E-46FB-A75F-C3B69013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337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Frozen configuration and custody receipt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129706-55F3-41F2-B1FA-A722656A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86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ED9727-B300-4288-8DD5-EF6119FB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861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570EB7-B4E6-405F-90EC-5B626ABE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671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Past-only replay against the accepted baseline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A1DEAD-A5BF-47CF-A062-BCFC7017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9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9D7A3F-255D-4923-8E6D-4D27D10E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95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5F9704-1B4F-478A-95D5-7D8806B4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005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Favorable, neutral, negative, and invalid outcomes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91557A-33E9-4451-BA9E-C34B35A5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52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CF4F28-B508-4C4F-9933-5A7FF1F2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529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DC18E7-023C-4169-8791-696D071E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339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Human-owned next decision with no automatic release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820912-11DD-43B9-B4D0-4E7F22D5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054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No savings, ROI, or field-performance claim before a buyer-controlled result.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6F11DF-7DC0-4EC6-908F-2DB09B0D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EVIDENCE-TO-PILOT BRIEF | 2026-07-29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49083A-DA1C-4FC0-A5EB-671CAE2D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9/11</a:t>
            </a:r>
          </a:p>
        </p:txBody>
      </p:sp>
    </p:spTree>
    <p:extLst>
      <p:ext uri="{BB962C8B-B14F-4D97-AF65-F5344CB8AC3E}">
        <p14:creationId xmlns:p14="http://schemas.microsoft.com/office/powerpoint/2010/main" val="18539485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0D8BCC-8132-456C-84D3-B2EC04CA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FUNDING DISCIPLINE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179E3-658E-45C4-ADBE-8A498C12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Near-term funding should buy independent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DDCD2-4860-490A-9ADB-66770FEC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46BD4-A1F5-46B2-9994-2556BFC8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CAD72-CA19-47B6-B8E5-EC80BF62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14350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9525">
            <a:solidFill>
              <a:srgbClr val="1E74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F792B-617E-41B0-95FF-E6257450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22669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F7E8D-A47D-434A-B83C-2F2261B7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MILESTONE-ELIGIBLE USES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9A2A6-BF3C-41E7-A4C3-58048FD2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What funding unlocks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EF426-F904-44BF-81D9-22E83C7E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F4ECF-A97F-43EE-AB52-27087048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CBD60-3E06-41EC-9B26-8F33CC09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337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Outcome-independent evaluator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119B1-8373-476D-9C08-830B1967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86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FAB69-D806-4B68-AF72-74B4A586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861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31F3C-DEB8-44AF-99BD-2D4C537A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671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Controlled-data integration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8F582-BBC5-401B-BB10-C90930F5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9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8205D4-B1CB-4954-8650-E7E5F389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95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58BDCA-FA03-4BAF-81AA-2E1E40A9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005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Security, insurance, and compliance work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51400C-1633-4ED0-8B3D-1BC96169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52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1018A6-DEFF-485F-B927-3973B01D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529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B0815E-84AD-4609-9B22-A92248DA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339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Buyer design sessions with written gates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12E6C3-9781-41A1-925F-97F56E30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05425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E745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7452"/>
                </a:solidFill>
                <a:latin typeface="Aptos"/>
                <a:ea typeface="Aptos"/>
                <a:cs typeface="Aptos"/>
              </a:rPr>
              <a:t>Milestone: an independently reproducible receipt and a written paid-expansion decision.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4A3509-3DE8-47FC-8200-76789B80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57350"/>
            <a:ext cx="567690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F6E9C8"/>
          </a:solidFill>
          <a:ln xmlns:a="http://schemas.openxmlformats.org/drawingml/2006/main" w="9525">
            <a:solidFill>
              <a:srgbClr val="B878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0E1BFD-FAE8-474D-AEF2-8C4F3425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21526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B8CD05-A88C-47FA-A1FE-0269ACB5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EXCLUDED WITHOUT APPROVAL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1D0EBD-E741-41F6-BFC4-D457E501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14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What this deck does not authorize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A64809-C4C1-4E76-B0D0-41D20874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A4BC13-F6DA-4288-BAFD-3E76054F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527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22B39A-771E-46FB-A75F-C3B69013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337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Valuation, dilution, or financing terms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129706-55F3-41F2-B1FA-A722656A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86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ED9727-B300-4288-8DD5-EF6119FB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861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570EB7-B4E6-405F-90EC-5B626ABE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671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Unrestricted scale or marketing spend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A1DEAD-A5BF-47CF-A062-BCFC7017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9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9D7A3F-255D-4923-8E6D-4D27D10E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95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5F9704-1B4F-478A-95D5-7D8806B4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005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Live trading or autonomous external action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91557A-33E9-4451-BA9E-C34B35A5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52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CF4F28-B508-4C4F-9933-5A7FF1F2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529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DC18E7-023C-4169-8791-696D071E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339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Patent, legal, or certification assertions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820912-11DD-43B9-B4D0-4E7F22D5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054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Amount, pricing, dilution, legal terms, and spend remain unapproved.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6F11DF-7DC0-4EC6-908F-2DB09B0D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EVIDENCE-TO-PILOT BRIEF | 2026-07-29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49083A-DA1C-4FC0-A5EB-671CAE2D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10/11</a:t>
            </a:r>
          </a:p>
        </p:txBody>
      </p:sp>
    </p:spTree>
    <p:extLst>
      <p:ext uri="{BB962C8B-B14F-4D97-AF65-F5344CB8AC3E}">
        <p14:creationId xmlns:p14="http://schemas.microsoft.com/office/powerpoint/2010/main" val="18539485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B64548-999C-481B-996D-EF2E3D26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990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F7A"/>
          </a:solidFill>
          <a:ln xmlns:a="http://schemas.openxmlformats.org/drawingml/2006/main" w="0">
            <a:solidFill>
              <a:srgbClr val="0A7F7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47B07-C377-4BBC-8EFD-1A71AD28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THE 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0DF36F-8BFB-4CC4-8698-C0192638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6858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Help us earn the first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independent proof receipt.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E1358-9C60-4661-B346-335FC5EC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6343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C8D1D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8D1D6"/>
                </a:solidFill>
                <a:latin typeface="Aptos"/>
                <a:ea typeface="Aptos"/>
                <a:cs typeface="Aptos"/>
              </a:rPr>
              <a:t>LumenCore is ready for one named buyer, one accepted baseline, one controlled dataset, and one result an independent party can reproduce.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80BF2-F987-4288-920F-A4F49564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819150"/>
            <a:ext cx="3981450" cy="4572000"/>
          </a:xfrm>
          <a:prstGeom xmlns:a="http://schemas.openxmlformats.org/drawingml/2006/main" prst="roundRect">
            <a:avLst>
              <a:gd name="adj" fmla="val 1914"/>
            </a:avLst>
          </a:prstGeom>
          <a:solidFill xmlns:a="http://schemas.openxmlformats.org/drawingml/2006/main">
            <a:srgbClr val="171E23"/>
          </a:solidFill>
          <a:ln xmlns:a="http://schemas.openxmlformats.org/drawingml/2006/main" w="9525">
            <a:solidFill>
              <a:srgbClr val="3B474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D164F-9E19-4D54-99FD-7261DE68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62050"/>
            <a:ext cx="3105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WHAT WE NEED FROM A DESIGN PARTNER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16148-5208-46F7-B7D3-E19DB850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526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432E76-83A2-43F5-B3CA-B1F64DF1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Buyer introduction in energy, infrastructure, or agency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B3E3A-3450-4185-B37C-31EFD15E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622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47"/>
          </a:solidFill>
          <a:ln xmlns:a="http://schemas.openxmlformats.org/drawingml/2006/main" w="0">
            <a:solidFill>
              <a:srgbClr val="3440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1645D-6031-4D5D-90A4-1E496A31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3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9F8E1-29A4-4942-9B22-D1ED496E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336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Outcome-independent evaluator with a frozen protocol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FCD89-38B0-4869-9106-7A2CC374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47"/>
          </a:solidFill>
          <a:ln xmlns:a="http://schemas.openxmlformats.org/drawingml/2006/main" w="0">
            <a:solidFill>
              <a:srgbClr val="3440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A0E294-B623-4418-8A95-A3C6276F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147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FE8B6-8FEC-40F1-BFFB-2E678CBE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1470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Qualified prime or contracting route when relevant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04D9A0-1EBD-48F2-8667-0E8D28F1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243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47"/>
          </a:solidFill>
          <a:ln xmlns:a="http://schemas.openxmlformats.org/drawingml/2006/main" w="0">
            <a:solidFill>
              <a:srgbClr val="34404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7A0BB4-47FD-4F38-8A58-92B2B0B4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E121B4-D110-490A-A24B-9C42E046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957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Scoped paid pilot after written acceptance gates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9C354F-1621-41AA-AEF7-DF92EB8E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816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Robert Ashworth | Founder, LumenCore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189F57-9E98-40B1-B374-3F9AB4A3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Current software and protocol evidence. External performance validation next.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716BB2-3E3A-4012-90A9-00DD9645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AAB5B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AB5BC"/>
                </a:solidFill>
                <a:latin typeface="Aptos"/>
                <a:ea typeface="Aptos"/>
                <a:cs typeface="Aptos"/>
              </a:rPr>
              <a:t>LUMENCORE | EVIDENCE-TO-PILOT BRIEF | 2026-07-29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BDB31E-2BAD-4DB9-82EE-17788C29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AAB5B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AB5BC"/>
                </a:solidFill>
                <a:latin typeface="Aptos"/>
                <a:ea typeface="Aptos"/>
                <a:cs typeface="Aptos"/>
              </a:rPr>
              <a:t>11/11</a:t>
            </a:r>
          </a:p>
        </p:txBody>
      </p:sp>
    </p:spTree>
    <p:extLst>
      <p:ext uri="{BB962C8B-B14F-4D97-AF65-F5344CB8AC3E}">
        <p14:creationId xmlns:p14="http://schemas.microsoft.com/office/powerpoint/2010/main" val="5389647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2026-07-29T10:42:36.3040000Z</dcterms:created>
  <dcterms:modified xsi:type="dcterms:W3CDTF">2026-07-29T10:42:36.3040000Z</dcterms:modified>
</coreProperties>
</file>