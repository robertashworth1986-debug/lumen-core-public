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9df86360f640cf" /><Relationship Type="http://schemas.openxmlformats.org/officeDocument/2006/relationships/extended-properties" Target="/docProps/app.xml" Id="R58c3c055b35f4999" /><Relationship Type="http://schemas.openxmlformats.org/officeDocument/2006/relationships/officeDocument" Target="/ppt/presentation.xml" Id="R926a31696cdf48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209437297e4022"/>
  </p:sldMasterIdLst>
  <p:notesMasterIdLst>
    <p:notesMasterId xmlns:r="http://schemas.openxmlformats.org/officeDocument/2006/relationships" r:id="R476e224775834445"/>
  </p:notesMasterIdLst>
  <p:sldIdLst>
    <p:sldId xmlns:r="http://schemas.openxmlformats.org/officeDocument/2006/relationships" id="256" r:id="Raa6bf844ca6f4103"/>
    <p:sldId xmlns:r="http://schemas.openxmlformats.org/officeDocument/2006/relationships" id="257" r:id="Rdfafaa23a48b4ac4"/>
    <p:sldId xmlns:r="http://schemas.openxmlformats.org/officeDocument/2006/relationships" id="258" r:id="R4e27dcc0f9044d4d"/>
    <p:sldId xmlns:r="http://schemas.openxmlformats.org/officeDocument/2006/relationships" id="259" r:id="R4364a5f4b123468b"/>
    <p:sldId xmlns:r="http://schemas.openxmlformats.org/officeDocument/2006/relationships" id="260" r:id="R9657cafc65614c26"/>
    <p:sldId xmlns:r="http://schemas.openxmlformats.org/officeDocument/2006/relationships" id="261" r:id="Raac31d44cf724ddc"/>
    <p:sldId xmlns:r="http://schemas.openxmlformats.org/officeDocument/2006/relationships" id="262" r:id="R2be417a7f066413c"/>
    <p:sldId xmlns:r="http://schemas.openxmlformats.org/officeDocument/2006/relationships" id="263" r:id="R3051001d1d1c46e7"/>
    <p:sldId xmlns:r="http://schemas.openxmlformats.org/officeDocument/2006/relationships" id="264" r:id="R0a216449914c4acf"/>
    <p:sldId xmlns:r="http://schemas.openxmlformats.org/officeDocument/2006/relationships" id="265" r:id="R71d24553fabf4470"/>
    <p:sldId xmlns:r="http://schemas.openxmlformats.org/officeDocument/2006/relationships" id="266" r:id="R2520b825c94649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5dadfde4d642dd" /><Relationship Type="http://schemas.openxmlformats.org/officeDocument/2006/relationships/slideMaster" Target="/ppt/slideMasters/slideMaster1.xml" Id="R53209437297e4022" /><Relationship Type="http://schemas.openxmlformats.org/officeDocument/2006/relationships/notesMaster" Target="/ppt/notesMasters/notesMaster1.xml" Id="R476e224775834445" /><Relationship Type="http://schemas.openxmlformats.org/officeDocument/2006/relationships/presProps" Target="/ppt/presProps.xml" Id="R3a10e2f6c90843a8" /><Relationship Type="http://schemas.openxmlformats.org/officeDocument/2006/relationships/tableStyles" Target="/ppt/tableStyles.xml" Id="Rfba5f098887e4af8" /><Relationship Type="http://schemas.openxmlformats.org/officeDocument/2006/relationships/slide" Target="/ppt/slides/slide1.xml" Id="Raa6bf844ca6f4103" /><Relationship Type="http://schemas.openxmlformats.org/officeDocument/2006/relationships/slide" Target="/ppt/slides/slide2.xml" Id="Rdfafaa23a48b4ac4" /><Relationship Type="http://schemas.openxmlformats.org/officeDocument/2006/relationships/slide" Target="/ppt/slides/slide3.xml" Id="R4e27dcc0f9044d4d" /><Relationship Type="http://schemas.openxmlformats.org/officeDocument/2006/relationships/slide" Target="/ppt/slides/slide4.xml" Id="R4364a5f4b123468b" /><Relationship Type="http://schemas.openxmlformats.org/officeDocument/2006/relationships/slide" Target="/ppt/slides/slide5.xml" Id="R9657cafc65614c26" /><Relationship Type="http://schemas.openxmlformats.org/officeDocument/2006/relationships/slide" Target="/ppt/slides/slide6.xml" Id="Raac31d44cf724ddc" /><Relationship Type="http://schemas.openxmlformats.org/officeDocument/2006/relationships/slide" Target="/ppt/slides/slide7.xml" Id="R2be417a7f066413c" /><Relationship Type="http://schemas.openxmlformats.org/officeDocument/2006/relationships/slide" Target="/ppt/slides/slide8.xml" Id="R3051001d1d1c46e7" /><Relationship Type="http://schemas.openxmlformats.org/officeDocument/2006/relationships/slide" Target="/ppt/slides/slide9.xml" Id="R0a216449914c4acf" /><Relationship Type="http://schemas.openxmlformats.org/officeDocument/2006/relationships/slide" Target="/ppt/slides/slide10.xml" Id="R71d24553fabf4470" /><Relationship Type="http://schemas.openxmlformats.org/officeDocument/2006/relationships/slide" Target="/ppt/slides/slide11.xml" Id="R2520b825c94649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19adf19aba4a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2b8c91ce504f90" /><Relationship Type="http://schemas.openxmlformats.org/officeDocument/2006/relationships/notesMaster" Target="/ppt/notesMasters/notesMaster1.xml" Id="R13f28bad1c1b40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d0f204a7a446de" /><Relationship Type="http://schemas.openxmlformats.org/officeDocument/2006/relationships/notesMaster" Target="/ppt/notesMasters/notesMaster1.xml" Id="Rda4d28d4d78c48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9e101350174139" /><Relationship Type="http://schemas.openxmlformats.org/officeDocument/2006/relationships/notesMaster" Target="/ppt/notesMasters/notesMaster1.xml" Id="R64e833e7eee94b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20980303054d7d" /><Relationship Type="http://schemas.openxmlformats.org/officeDocument/2006/relationships/notesMaster" Target="/ppt/notesMasters/notesMaster1.xml" Id="R83cc397bbff247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4c3efe3ada46a0" /><Relationship Type="http://schemas.openxmlformats.org/officeDocument/2006/relationships/notesMaster" Target="/ppt/notesMasters/notesMaster1.xml" Id="R6027344dee784c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0d899f5fbe49f9" /><Relationship Type="http://schemas.openxmlformats.org/officeDocument/2006/relationships/notesMaster" Target="/ppt/notesMasters/notesMaster1.xml" Id="R114643f06b8649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6ba1cd87bf43bf" /><Relationship Type="http://schemas.openxmlformats.org/officeDocument/2006/relationships/notesMaster" Target="/ppt/notesMasters/notesMaster1.xml" Id="Re0a54fc2291a4e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5963221fe54ac2" /><Relationship Type="http://schemas.openxmlformats.org/officeDocument/2006/relationships/notesMaster" Target="/ppt/notesMasters/notesMaster1.xml" Id="Rd5dcc5a78e1446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bdc53ac2a34cd7" /><Relationship Type="http://schemas.openxmlformats.org/officeDocument/2006/relationships/notesMaster" Target="/ppt/notesMasters/notesMaster1.xml" Id="Reea0cfccf6e24a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f228005db949cc" /><Relationship Type="http://schemas.openxmlformats.org/officeDocument/2006/relationships/notesMaster" Target="/ppt/notesMasters/notesMaster1.xml" Id="Rcdf0f610f4594a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19933d1e674204" /><Relationship Type="http://schemas.openxmlformats.org/officeDocument/2006/relationships/notesMaster" Target="/ppt/notesMasters/notesMaster1.xml" Id="Rc2d703cae3cf47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a7f2a3b9c46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9164475ba34092" /><Relationship Type="http://schemas.openxmlformats.org/officeDocument/2006/relationships/slideLayout" Target="/ppt/slideLayouts/slideLayout1.xml" Id="R111e1679dbc446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1e1679dbc446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42c12132946ac" /><Relationship Type="http://schemas.openxmlformats.org/officeDocument/2006/relationships/image" Target="/ppt/media/image.png" Id="Rda78e052fbdd4df0" /><Relationship Type="http://schemas.openxmlformats.org/officeDocument/2006/relationships/notesSlide" Target="/ppt/notesSlides/notesSlide1.xml" Id="R977d7a26fdcc4e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835d14ead4b06" /><Relationship Type="http://schemas.openxmlformats.org/officeDocument/2006/relationships/notesSlide" Target="/ppt/notesSlides/notesSlide2.xml" Id="R07e1e609901d4d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1c6ef10694db3" /><Relationship Type="http://schemas.openxmlformats.org/officeDocument/2006/relationships/notesSlide" Target="/ppt/notesSlides/notesSlide3.xml" Id="R6cf32990481446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8de6033f44736" /><Relationship Type="http://schemas.openxmlformats.org/officeDocument/2006/relationships/notesSlide" Target="/ppt/notesSlides/notesSlide4.xml" Id="R8a68ec519ee84b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279caf89b486f" /><Relationship Type="http://schemas.openxmlformats.org/officeDocument/2006/relationships/notesSlide" Target="/ppt/notesSlides/notesSlide5.xml" Id="Re9a97fc2aea743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2b425e2a248ee" /><Relationship Type="http://schemas.openxmlformats.org/officeDocument/2006/relationships/notesSlide" Target="/ppt/notesSlides/notesSlide6.xml" Id="R299429945b9e4c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59eaf7cf94ede" /><Relationship Type="http://schemas.openxmlformats.org/officeDocument/2006/relationships/notesSlide" Target="/ppt/notesSlides/notesSlide7.xml" Id="R0dc49973c2224d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86dd8639a4bcd" /><Relationship Type="http://schemas.openxmlformats.org/officeDocument/2006/relationships/notesSlide" Target="/ppt/notesSlides/notesSlide8.xml" Id="Rf976b9a82cda49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a7b1a86514dff" /><Relationship Type="http://schemas.openxmlformats.org/officeDocument/2006/relationships/notesSlide" Target="/ppt/notesSlides/notesSlide9.xml" Id="R78a4b16e34d044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2584a082b4e42" /><Relationship Type="http://schemas.openxmlformats.org/officeDocument/2006/relationships/notesSlide" Target="/ppt/notesSlides/notesSlide10.xml" Id="R82d8e6f9227f4d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10d9b7fd54884" /><Relationship Type="http://schemas.openxmlformats.org/officeDocument/2006/relationships/notesSlide" Target="/ppt/notesSlides/notesSlide11.xml" Id="R96eb6d35242e40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F2042-1941-4401-8939-13D16BFD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C5697-FF34-46CA-8C8E-191BAB9C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LUMENCORE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991D-EDAD-4BF8-8F1B-7DE62892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Proof-to-pilot AI validation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energy and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972FF-BF9B-49AE-AF0A-3D8FEE5B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D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DB"/>
                </a:solidFill>
                <a:latin typeface="Aptos"/>
                <a:ea typeface="Aptos"/>
                <a:cs typeface="Aptos"/>
              </a:rPr>
              <a:t>Turn a promising model into a decision a serious buyer can audit, reproduce, and price.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FF3AA-C951-4D54-8D9F-B07FEED4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2001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B7453-5336-470B-9C47-63D99ECB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WORKING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E093D-EB3D-41FC-BBDB-4CB43F1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000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0">
            <a:solidFill>
              <a:srgbClr val="F6E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36CBD-85D7-42D5-B892-3265C598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EXTERNAL VALIDATION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B11AA-54FF-4913-8BA3-C1E053D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C"/>
                </a:solidFill>
                <a:latin typeface="Aptos"/>
                <a:ea typeface="Aptos"/>
                <a:cs typeface="Aptos"/>
              </a:rPr>
              <a:t>Robert Ashworth | Founder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C"/>
                </a:solidFill>
                <a:latin typeface="Aptos"/>
                <a:ea typeface="Aptos"/>
                <a:cs typeface="Aptos"/>
              </a:rPr>
              <a:t>Launch Tennessee 3686 |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1C983-5C75-4B47-A720-4A3CABE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"/>
            <a:ext cx="5848350" cy="5238750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20272C"/>
          </a:solidFill>
          <a:ln xmlns:a="http://schemas.openxmlformats.org/drawingml/2006/main" w="9525">
            <a:solidFill>
              <a:srgbClr val="3A454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8e052fbdd4df0"/>
          <a:srcRect xmlns:a="http://schemas.openxmlformats.org/drawingml/2006/main" l="10988" t="0" r="109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742950"/>
            <a:ext cx="5543550" cy="4933950"/>
          </a:xfrm>
          <a:prstGeom xmlns:a="http://schemas.openxmlformats.org/drawingml/2006/main" prst="roundRect">
            <a:avLst>
              <a:gd name="adj" fmla="val 115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B93E0-30B4-45D1-B3CB-EDDE5F4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05500"/>
            <a:ext cx="544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Product proof room | local reviewer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3A077-A356-4E6D-932C-F31E280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1B83D-09F3-47D0-9A3C-6C2C420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367409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0955D6-FE0A-4A80-9BA0-15907256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C56F-F3A9-4C55-A1EC-60985FC8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AI scores arrive faster than buyer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611C1-948A-427E-86A0-E3E18C9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1E634-4194-4A5C-B4A3-A089752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4FFFE-E580-4B9F-91AE-103E5E2D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In high-consequence operations, the buyer is not purchasing a score. The buyer is purchasing a defensible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AADB0-38E9-48D1-B80A-1F8A65C5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strong model can still fail procurement when the evidence trail cannot answer four basic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1C219-09E4-4B49-9905-81C7B5B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77298-5796-44EA-A3BD-8C0785F4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EF2D0-198E-49CC-AF06-B344D650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Dataset identity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allowed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1C451-927F-4F55-85FA-0C1BFBD9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8D9C5-335A-45E0-B33F-76A47DA5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C2041-5246-4440-89EA-AF5B4943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Baseline and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metric 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7A255-B303-494F-B6B1-688E5FD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5186-5822-4855-BF47-2BD5BEA0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003CD-E9FD-4D5A-86B3-64ACE4F2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Negative results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uncertainty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42E30-5491-4192-9A80-DE8E7A3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95111-7703-4800-BEA5-22F61345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24F1C-9963-4EA8-9897-57F6ED25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Receipt, owner,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next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C5B5B-125F-445F-BA0C-300501C6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493395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B8428-1A34-4428-9B44-BCE27F57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444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4444"/>
                </a:solidFill>
                <a:latin typeface="Aptos"/>
                <a:ea typeface="Aptos"/>
                <a:cs typeface="Aptos"/>
              </a:rPr>
              <a:t>WHAT BREAKS 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DD64A-427F-48CE-84A4-7EEC9272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60C91-789C-49FB-BB23-C0047819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Data leakage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D408B-6689-4B99-967F-251C1D64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Future information contaminates the test.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4190A-E328-4BD7-AEB3-BF1D36E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1DC4C-F5C9-4356-AF4A-41F495D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Moving goalposts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64AE4-FAC5-4CE3-89A6-9F5A7F2A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Baselines or metrics change after results appear.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93E08-1993-4ACD-A903-C529159D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0E1485-6287-4D88-A589-5175276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Hidden negatives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E9EC4-B0C0-4E65-9611-60F3A641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Only favorable runs survive into the deck.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49084-68AB-4EFF-8C57-175B285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578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5FCD1-DB77-4557-A83F-D55F4DDD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No custody trail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25AE65-B7EB-4626-A0D6-C07686E9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The artifact cannot be tied to code, data, or time.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351E11-B409-4D47-9FB8-5E48AD9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9B3306-E945-456C-B941-C871B08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709079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51E07B-F747-4C84-80C6-C24C807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997F9-5734-4380-8807-CFC4BCA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One bounded workflow from claim to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A8F84-403A-4604-B304-5C8B894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1AF16-44F3-4498-8CA5-897EBE5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F9A95-0F33-4CAE-ACD2-2934106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makes the evidence path explicit before it makes the claim louder.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40B7B-1F41-4D47-9865-A9E6FADF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1905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9C3CB-7F3B-4FBC-A408-D69467C3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FEAF3"/>
          </a:solidFill>
          <a:ln xmlns:a="http://schemas.openxmlformats.org/drawingml/2006/main" w="19050">
            <a:solidFill>
              <a:srgbClr val="1D5D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E7833-2050-4FB9-9CE0-91906CFA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19050">
            <a:solidFill>
              <a:srgbClr val="B878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5014D-AEF7-4708-8A10-21E0B666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19050">
            <a:solidFill>
              <a:srgbClr val="1E7452"/>
            </a:solidFill>
            <a:prstDash val="solid"/>
          </a:ln>
        </p:spPr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70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864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3058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9978C-98E2-48D1-A112-FA2386E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0BB15-1EB9-4D89-AE34-80B5021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FREEZE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BBBF1-49A4-4C47-9E60-D4CA5312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Dataset, baseline, metric,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1343A-E961-4DD6-AF46-ECFB772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5E74F-D47C-4BDD-AAB1-9A35C863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F8981-E9C7-4510-8BB4-F5335A64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Past-only execution with held-out windows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548CA-BC69-4F07-AEE8-C7A1547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925C4-7139-4FDD-8EDA-2D903DC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BB873-656A-40DF-AD21-86EA482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Uncertainty, abstention, and negative-result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8FD78-6368-41FA-870E-D7997070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99FFC-2BE6-4FB3-81A9-6279876E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RECEIPT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A028E-6E4E-49B0-B6E3-FA5981A3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Hash, custody record, owner, and pilot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F1E04-5DD1-4A14-8A39-6A0E5A8F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43053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E8E17-EF8D-4178-9BBE-08504A38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APPROVAL BEFORE EXTERNAL CLAIM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183AA-CC3A-4A3D-BC7A-5BA3F48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959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Output: a buyer-readable packet that can be reproduced, challenged, and converted into a scoped field pilot.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0B0BB-5347-424A-A9A9-8BF09BA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571CC-56E0-4E6B-B973-34016D94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752247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09C592-A3F9-449D-B8BC-F82BCD23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D6B01-6154-438A-8170-8CCF12BD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Start where one bad decision is expensive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32453-74D9-48BD-B0D6-3FC82067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B3FA6-0BF4-4C89-9CD0-A24D8756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93B81-FE30-4C22-A429-ECAEC23B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Initial wedge: organizations with costly reliability, planning, or forecasting errors and an existing baseline they already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E5F02-7133-4B45-908B-A7DAA69C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81B7F-5CC4-4492-A2F5-A91F5B93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UTILITY / GRID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5C5DD-F31A-4BFB-BD3A-50E482BC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87F27-810D-456D-989B-A5C99BC1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Analytics or operations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80AFE-DF5E-4892-8F81-9AB0BF4B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FFF37-1F83-4391-8F2A-62379B5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planning or forecasting model cannot clear internal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6D904-99F8-4F59-B10C-F72647C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00339-461A-453D-BA60-7C817DBD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Decision receipt + replay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04008-057C-42F7-AF6A-31BB319D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FA708-DD8F-4A21-B5BC-142652FA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LAB / AGENCY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01901-B2E5-43CC-B80B-5628ED2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BA466-D314-45B0-92F0-BFCF829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Program or technical 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60566-EB95-44C1-8F4B-15B92B4A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B97F6-1049-438C-A8C2-AF0237F8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research result needs a reproducible route to a field partner.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54ECE-13CF-469F-85F8-BE3EC992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9A051-0520-45A9-90A3-34AD44B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Reviewer packet + validation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54C18-97E6-484D-B696-D78B7B4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F35D4-71DE-4BC0-B41B-B293B23E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INDUSTRIAL RELIABILITY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2BFEA-2A32-4B95-8E8A-AF94D9F6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65D35-88DB-4C66-AAC6-36C273A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Reliability or asset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B20BC-D37E-4C07-993C-05255A9A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71650-F5AC-4E8F-A9C0-218243CE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failure-risk signal needs proof against the incumbent rule or model.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F9E67-3CAA-44CE-A91F-0BECED2C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0C630E-9537-4B4C-AC6D-A980AE7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Scoped pilot + economic acceptance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788437-1DCE-4CEB-AF9C-C2D2DA5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2CB11-F4FA-4D41-BB43-26A08DF6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2077944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EVIDENCE POSTURE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The MVP is real; the next value gate is external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PROVEN IN CURRENT ARTIFACTS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Working review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Canonical review cards and evidence artifacts present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Claim gates separate outreach from field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Hashable packets and custody records are supported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Negative-result and abstention states remain 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What this supports today: a bounded buyer conversation and a reproducible pilot design.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REQUIRES OUTSIDE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Field 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Buyer-controlled data and accepted incumbent baseline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Independent reproduction by a named third party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Measured operational or economic outcome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Reference customer, contract, or production deployment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No claim in this deck crosses this boundary. The application asks for the introductions and discipline needed to cross it.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7485F-7B7B-4430-81DF-DC86D07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7946D-05D8-4D9C-8855-CDBB47B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Sell the proof path before the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9E773-C846-4A55-B3C0-7C79B6B3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E1FF1-CF96-42A7-A6AD-2F278203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32884-DAB4-4BCC-BF05-75712A66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Three offers create a low-friction entry, a paid validation event, and a repeatable expansion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C9D70-F2A1-4E02-81FC-E40C9994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86983-A844-4C8D-A5BA-3D244C8A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1. EVIDENCE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7142C-FAAF-49DD-AA4A-AA062B52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$5k-$10k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318FE-542C-4BDF-8615-21676980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Planning range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532AD-588D-4015-AB77-8AABA25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Scope the decision, lock the incumbent baseline, and produce a reviewer-ready evidence packet.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1A4A-72BD-4525-A035-AC515308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Technical sponsor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22689-6DB3-4C6C-B4C6-ED7E563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61E1B-D92F-4021-AA38-4AF33240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2. CONTROLLED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0F69D-E83A-44AD-B420-48EA45D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$20k-$50k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707B8-E310-4831-AD87-9A6825D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Planning range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9C23F-6CAA-4611-A414-FB332A77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Replay on buyer-controlled data, measure against a preregistered acceptance gate, and issue a receipt.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44D9D-D0FC-4E5E-AD59-C53ED373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Design partner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C9D84-D3DD-42E7-83F0-B87F236E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A6A31-ECB2-426F-BA93-50AEB173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3. PLATFORM LICENSE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8124D-7B8F-4357-B80E-622BE324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$60k-$150k / yr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AB53B-80F1-4F97-89E7-39423006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Planning range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92AF7-98FD-4FDD-8E6B-E52E296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Automate repeatable reviews, evidence custody, governance, support, and approved operating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21C1E-609A-4FF9-B1EC-30133E8F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Program 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82DC7-37F5-45D4-B0D1-41EF20EE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All pricing is a founder-review assumption. No paid pilot, customer commitment, or contract is claimed.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45A18-749B-463B-A61E-16D1E77C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2B0B6-F006-4C14-88FF-061EEC9F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817884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158CB-4299-43A2-A07E-1D7662E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COMPETITIVE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6ACB3-36CD-4D51-9380-644D7E2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Positioned between model tooling and audit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8C30B-8226-4E17-8919-9CE67653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860CA-CF96-4AE2-AB79-4285943B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CDF04-F849-4692-943F-B0B26DBE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The wedge is not another model leaderboard. It is an evidence operating layer for decisions that must survive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5377B-47C6-4E8F-9CC8-827FA7A7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17E9F-C3AA-42AF-A734-8A8089F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3A8ED-E364-48EB-B3AF-729A6766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F42D5-DA03-4554-B13E-AC6BF5B4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F3EE8-1682-4892-996C-9AD7419C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LOW AUDITABILITY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46BE6-07AC-4AA1-B210-A3038B1E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9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HIGH AUDITABILITY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286A1-2BA9-426B-881A-E467D3F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051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REPEATABLE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E455B-0067-456E-8E81-56907D4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911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BESPOKE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7A7D4-0CA3-445B-87A7-BCD3519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14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9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0DEE6-FCE6-47C1-8586-701AED4D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6386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AD HOC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B0BD1-5800-4DF9-9031-663E3AB1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CAE38-15C5-4460-93FE-D077F947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GENERIC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MLOPS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C944C-3791-4285-BBB8-2728E3C1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4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45ED6-4FC2-4835-874C-FEFFAD76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4481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CONSULTING /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AUDIT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F8E08-3803-4F60-A38E-8BCB4F37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80D23-5577-48A9-BB01-E4AB4B9E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LUMENCORE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TARGET 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3BF53-F49B-41DA-B99C-73CD12AE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552700" cy="29718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40AD7-BC80-465A-B0F1-A56ACE9B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52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DISTINCTIVE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46843-8B5B-48F7-92DF-4077A0A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2019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Past-only replay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Frozen baseline and metric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Visible negatives and abstention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Hashable custody receipt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Human release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60D44-8CB1-4862-B364-D251FF39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293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Positioning hypothesis; not a market-share or superiority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79862-78F2-42D8-9FD8-C4535FF8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F0175-1F8F-42F3-8555-526F3199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564095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5DE500-5E34-4BE8-BBBD-DCD2CB54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64644-C96A-44F8-B1CF-77454F5F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Qualify one hard problem, prove it, then expand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8433A-BC97-48FE-BE25-B1147204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E93D4-194A-491A-9486-8C335CEE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0342A-9FE1-4C7E-B8A6-3D18A89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The near-term objective is one serious design partner with controlled data and an accepted incumbent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01D9B-60CF-4C28-9C91-8B94F33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11082-9A06-43B3-8A55-2B2AF8A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5D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A913C-40C9-4907-8AB4-F7D3208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7452"/>
            </a:solidFill>
            <a:prstDash val="solid"/>
          </a:ln>
        </p:spPr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914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48500" y="3914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84FC8-5DA2-4C17-A479-630FCE20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24336-CC85-47FE-A07E-8A1C0928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QUALIFY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E9910-0DC3-4671-B7A4-B7F9263C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Confirm the owner, decision, data rights, baseline, cost of error, and approval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162AB-9B9C-4A91-B760-784E408F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Gate: written problem +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E1D67-FF2E-41E2-A401-1DCBB7A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9F612-D348-4299-8B34-AB37FD7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6A5DA-DC23-4C8A-B5DD-EED5991D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Run a preregistered replay on buyer-controlled data and preserve every favorable and unfavorable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5CAAB-D8DA-4196-B4AA-F5A918E7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Gate: accepted evidence receipt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51075-8E4C-4CEE-A624-90AD412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497C8-6B72-4717-838C-9438AA1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EXPAND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8BDE7-5B41-4200-84E6-FB16869E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Convert the accepted pilot into repeatable workflows, annual support, and adjacent decisions.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67083-A157-4B68-A0A8-924CA177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Gate: paid renewal or license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85B64-68FE-4C62-B30A-E0227C28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FDBDE-31F6-4F27-A5AE-3ADFA7D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90-DAY FOCUS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83099-25CD-4F84-9ED2-26C5D361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817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10 qualified conversations  |  3 controlled-data design sessions  |  1 paid or independently reproduced 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0C0727-2887-46DB-8D08-FE0EC29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226E1-7A0E-453D-87F2-52E337BD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988580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EVIDENCE POSTURE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The MVP is real; the next value gate is external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PROVEN IN CURRENT ARTIFACTS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Working review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Canonical review cards and evidence artifacts present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Claim gates separate outreach from field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Hashable packets and custody records are supported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Negative-result and abstention states remain 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What this supports today: a bounded buyer conversation and a reproducible pilot design.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REQUIRES OUTSIDE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Field 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Buyer-controlled data and accepted incumbent baseline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Independent reproduction by a named third party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Measured operational or economic outcome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Reference customer, contract, or production deployment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No claim in this deck crosses this boundary. The application asks for the introductions and discipline needed to cross it.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EVIDENCE POSTURE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The MVP is real; the next value gate is external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PROVEN IN CURRENT ARTIFACTS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Working review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Canonical review cards and evidence artifacts present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Claim gates separate outreach from field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Hashable packets and custody records are supported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Negative-result and abstention states remain 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What this supports today: a bounded buyer conversation and a reproducible pilot design.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REQUIRES OUTSIDE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Field 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Buyer-controlled data and accepted incumbent baseline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Independent reproduction by a named third party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Measured operational or economic outcome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Reference customer, contract, or production deployment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No claim in this deck crosses this boundary. The application asks for the introductions and discipline needed to cross it.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64548-999C-481B-996D-EF2E3D26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47B07-C377-4BBC-8EFD-1A71AD2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DF36F-8BFB-4CC4-8698-C0192638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6858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Help us earn the first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independent proof receipt.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E1358-9C60-4661-B346-335FC5E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6343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8D1D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1D6"/>
                </a:solidFill>
                <a:latin typeface="Aptos"/>
                <a:ea typeface="Aptos"/>
                <a:cs typeface="Aptos"/>
              </a:rPr>
              <a:t>LumenCore is ready for the next disciplined step: one buyer, one accepted baseline, one controlled dataset, and one result that another party can reproduce.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80BF2-F987-4288-920F-A4F4956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819150"/>
            <a:ext cx="3981450" cy="457200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171E23"/>
          </a:solidFill>
          <a:ln xmlns:a="http://schemas.openxmlformats.org/drawingml/2006/main" w="9525">
            <a:solidFill>
              <a:srgbClr val="3B47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D164F-9E19-4D54-99FD-7261DE68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62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WHAT WE NEED FROM LAUNCHTN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16148-5208-46F7-B7D3-E19DB85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32E76-83A2-43F5-B3CA-B1F64DF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Buyer introductions in energy and infrastructure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B3E3A-3450-4185-B37C-31EFD15E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1645D-6031-4D5D-90A4-1E496A31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9F8E1-29A4-4942-9B22-D1ED496E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Pricing and pilot-scope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FCD89-38B0-4869-9106-7A2CC37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0E294-B623-4418-8A95-A3C6276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FE8B6-8FEC-40F1-BFFB-2E678CB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Pitch coaching grounded in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4D9A0-1EBD-48F2-8667-0E8D28F1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A0BB4-47FD-4F38-8A58-92B2B0B4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121B4-D110-490A-A24B-9C42E04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3686 exposure to serious design partners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C354F-1621-41AA-AEF7-DF92EB8E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Robert Ashworth | Founder, LumenCore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89F57-9E98-40B1-B374-3F9AB4A3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Working MVP. Honest boundaries. External validation next.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16BB2-3E3A-4012-90A9-00DD9645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DB31E-2BAD-4DB9-82EE-17788C29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538964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2026-07-29T09:40:09.9230000Z</dcterms:created>
  <dcterms:modified xsi:type="dcterms:W3CDTF">2026-07-29T09:40:09.9230000Z</dcterms:modified>
</coreProperties>
</file>