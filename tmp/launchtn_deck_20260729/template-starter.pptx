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3aac4564884f83" /><Relationship Type="http://schemas.openxmlformats.org/officeDocument/2006/relationships/extended-properties" Target="/docProps/app.xml" Id="R5b0ce5f7c1c74ccc" /><Relationship Type="http://schemas.openxmlformats.org/officeDocument/2006/relationships/officeDocument" Target="/ppt/presentation.xml" Id="R68a8fc9cde9547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7d1bc223764878"/>
  </p:sldMasterIdLst>
  <p:notesMasterIdLst>
    <p:notesMasterId xmlns:r="http://schemas.openxmlformats.org/officeDocument/2006/relationships" r:id="Rb2a5416fc32e4272"/>
  </p:notesMasterIdLst>
  <p:sldIdLst>
    <p:sldId xmlns:r="http://schemas.openxmlformats.org/officeDocument/2006/relationships" id="256" r:id="R89083c4205a34c28"/>
    <p:sldId xmlns:r="http://schemas.openxmlformats.org/officeDocument/2006/relationships" id="257" r:id="R9752ea60069b4a01"/>
    <p:sldId xmlns:r="http://schemas.openxmlformats.org/officeDocument/2006/relationships" id="258" r:id="R2d9e56f4583b4a22"/>
    <p:sldId xmlns:r="http://schemas.openxmlformats.org/officeDocument/2006/relationships" id="259" r:id="R772626becbfc4459"/>
    <p:sldId xmlns:r="http://schemas.openxmlformats.org/officeDocument/2006/relationships" id="260" r:id="Ref1b43b0462849f1"/>
    <p:sldId xmlns:r="http://schemas.openxmlformats.org/officeDocument/2006/relationships" id="261" r:id="R7a4d6dd359b04b10"/>
    <p:sldId xmlns:r="http://schemas.openxmlformats.org/officeDocument/2006/relationships" id="262" r:id="R1196d6d1cc144a4b"/>
    <p:sldId xmlns:r="http://schemas.openxmlformats.org/officeDocument/2006/relationships" id="263" r:id="R54481750919a4873"/>
    <p:sldId xmlns:r="http://schemas.openxmlformats.org/officeDocument/2006/relationships" id="264" r:id="Rf47626233ee041e3"/>
    <p:sldId xmlns:r="http://schemas.openxmlformats.org/officeDocument/2006/relationships" id="265" r:id="R2453a420edf94cc3"/>
    <p:sldId xmlns:r="http://schemas.openxmlformats.org/officeDocument/2006/relationships" id="266" r:id="R2ca92c635bb64f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cc8c2b8b294696" /><Relationship Type="http://schemas.openxmlformats.org/officeDocument/2006/relationships/slideMaster" Target="/ppt/slideMasters/slideMaster1.xml" Id="Ra87d1bc223764878" /><Relationship Type="http://schemas.openxmlformats.org/officeDocument/2006/relationships/notesMaster" Target="/ppt/notesMasters/notesMaster1.xml" Id="Rb2a5416fc32e4272" /><Relationship Type="http://schemas.openxmlformats.org/officeDocument/2006/relationships/presProps" Target="/ppt/presProps.xml" Id="R6d3d157c567d4fb8" /><Relationship Type="http://schemas.openxmlformats.org/officeDocument/2006/relationships/tableStyles" Target="/ppt/tableStyles.xml" Id="R62a2a0ae91ce4246" /><Relationship Type="http://schemas.openxmlformats.org/officeDocument/2006/relationships/slide" Target="/ppt/slides/slide1.xml" Id="R89083c4205a34c28" /><Relationship Type="http://schemas.openxmlformats.org/officeDocument/2006/relationships/slide" Target="/ppt/slides/slide2.xml" Id="R9752ea60069b4a01" /><Relationship Type="http://schemas.openxmlformats.org/officeDocument/2006/relationships/slide" Target="/ppt/slides/slide3.xml" Id="R2d9e56f4583b4a22" /><Relationship Type="http://schemas.openxmlformats.org/officeDocument/2006/relationships/slide" Target="/ppt/slides/slide4.xml" Id="R772626becbfc4459" /><Relationship Type="http://schemas.openxmlformats.org/officeDocument/2006/relationships/slide" Target="/ppt/slides/slide5.xml" Id="Ref1b43b0462849f1" /><Relationship Type="http://schemas.openxmlformats.org/officeDocument/2006/relationships/slide" Target="/ppt/slides/slide6.xml" Id="R7a4d6dd359b04b10" /><Relationship Type="http://schemas.openxmlformats.org/officeDocument/2006/relationships/slide" Target="/ppt/slides/slide7.xml" Id="R1196d6d1cc144a4b" /><Relationship Type="http://schemas.openxmlformats.org/officeDocument/2006/relationships/slide" Target="/ppt/slides/slide8.xml" Id="R54481750919a4873" /><Relationship Type="http://schemas.openxmlformats.org/officeDocument/2006/relationships/slide" Target="/ppt/slides/slide9.xml" Id="Rf47626233ee041e3" /><Relationship Type="http://schemas.openxmlformats.org/officeDocument/2006/relationships/slide" Target="/ppt/slides/slide10.xml" Id="R2453a420edf94cc3" /><Relationship Type="http://schemas.openxmlformats.org/officeDocument/2006/relationships/slide" Target="/ppt/slides/slide11.xml" Id="R2ca92c635bb6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c83d7c342a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f1b65f4c4847bf" /><Relationship Type="http://schemas.openxmlformats.org/officeDocument/2006/relationships/notesMaster" Target="/ppt/notesMasters/notesMaster1.xml" Id="Rd3e1456c354742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e60337fdb1438e" /><Relationship Type="http://schemas.openxmlformats.org/officeDocument/2006/relationships/notesMaster" Target="/ppt/notesMasters/notesMaster1.xml" Id="Rc0892cec9d4e44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17edc358d1489c" /><Relationship Type="http://schemas.openxmlformats.org/officeDocument/2006/relationships/notesMaster" Target="/ppt/notesMasters/notesMaster1.xml" Id="Re2f0e22549ee43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8e85fe8e0a483b" /><Relationship Type="http://schemas.openxmlformats.org/officeDocument/2006/relationships/notesMaster" Target="/ppt/notesMasters/notesMaster1.xml" Id="Rd6c5a2e9614b47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079fec0e7943ab" /><Relationship Type="http://schemas.openxmlformats.org/officeDocument/2006/relationships/notesMaster" Target="/ppt/notesMasters/notesMaster1.xml" Id="Rb4e415552c084d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c552b8a1784508" /><Relationship Type="http://schemas.openxmlformats.org/officeDocument/2006/relationships/notesMaster" Target="/ppt/notesMasters/notesMaster1.xml" Id="R77a436a936b64d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a8661e7a93474b" /><Relationship Type="http://schemas.openxmlformats.org/officeDocument/2006/relationships/notesMaster" Target="/ppt/notesMasters/notesMaster1.xml" Id="R28736a528b6147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839d2e8ae74040" /><Relationship Type="http://schemas.openxmlformats.org/officeDocument/2006/relationships/notesMaster" Target="/ppt/notesMasters/notesMaster1.xml" Id="R89a8bbc80bd942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edd83653cf4047" /><Relationship Type="http://schemas.openxmlformats.org/officeDocument/2006/relationships/notesMaster" Target="/ppt/notesMasters/notesMaster1.xml" Id="R1774b890cba947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d67c06da56476f" /><Relationship Type="http://schemas.openxmlformats.org/officeDocument/2006/relationships/notesMaster" Target="/ppt/notesMasters/notesMaster1.xml" Id="R5d4f1263b6f048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6c8f54e63341bf" /><Relationship Type="http://schemas.openxmlformats.org/officeDocument/2006/relationships/notesMaster" Target="/ppt/notesMasters/notesMaster1.xml" Id="Re551c50c169d4a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docs/LUMENCORE_SOURCE_NATIVE_BENCHMARK_WHITEPAPER_CURRENT.md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Boundary: current software and protocol evidence; no external performance claim.</a:t>
            </a:r>
          </a:p>
          <a:p xmlns:a="http://schemas.openxmlformats.org/drawingml/2006/main">
            <a:r>
              <a:t>
[Sources]
- dashboard/proof_to_pilot.html
- Internal product screenshot and workflow framing; no field-performance claim.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config/federal_reviewer_objection_register_v1.json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The trust-break framing is an internal operating hypothesis, not a market statistic.</a:t>
            </a:r>
          </a:p>
          <a:p xmlns:a="http://schemas.openxmlformats.org/drawingml/2006/main">
            <a:r>
              <a:t>
[Sources]
- config/federal_reviewer_objection_register_v1.json
- Internal evidence-gating problem definition.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Local: out/ops/prooflock_opportunity_ops_pilot/latest/prooflock_opportunity_ops_pilot_definition.json</a:t>
            </a:r>
          </a:p>
          <a:p xmlns:a="http://schemas.openxmlformats.org/drawingml/2006/main">
            <a:r>
              <a:t>
[Sources]
- config/noahs_proof_chain_v1.json
- Internal freeze, replay, gate, and receipt workflow.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Target sectors and buyer roles are positioning hypotheses; no customer adoption is claimed.</a:t>
            </a:r>
          </a:p>
          <a:p xmlns:a="http://schemas.openxmlformats.org/drawingml/2006/main">
            <a:r>
              <a:t>
[Sources]
- code/ops/BUILD_FIRST_BUYER_TARGET_BOARD.py
- Internal customer hypothesis; not market validation.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out/ops/source_native_family_baseline_ledger_latest.json</a:t>
            </a:r>
          </a:p>
          <a:p xmlns:a="http://schemas.openxmlformats.org/drawingml/2006/main">
            <a:r>
              <a:t>- Local: out/ops/market_signal_source_native_benchmark_latest.json</a:t>
            </a:r>
          </a:p>
          <a:p xmlns:a="http://schemas.openxmlformats.org/drawingml/2006/main">
            <a:r>
              <a:t>- Local: config/time_series_source_native_prospective_protocol_v1.json</a:t>
            </a:r>
          </a:p>
          <a:p xmlns:a="http://schemas.openxmlformats.org/drawingml/2006/main">
            <a:r>
              <a:t>- Local: out/ops/time_series_source_native_prospective_protocol_status.json</a:t>
            </a:r>
          </a:p>
          <a:p xmlns:a="http://schemas.openxmlformats.org/drawingml/2006/main">
            <a:r>
              <a:t>
[Sources]
- out/ops/source_native_family_baseline_ledger_latest.json
- out/ops/time_series_source_native_prospective_protocol_status.json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Pricing is intentionally unquoted and requires buyer-specific founder approval.</a:t>
            </a:r>
          </a:p>
          <a:p xmlns:a="http://schemas.openxmlformats.org/drawingml/2006/main">
            <a:r>
              <a:t>
[Sources]
- code/ops/BUILD_PROOF_TO_REVENUE_ENGINE.py
- Proposed commercial path; not realized revenue.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Competitive placement is a positioning hypothesis; no market share or superiority claim.</a:t>
            </a:r>
          </a:p>
          <a:p xmlns:a="http://schemas.openxmlformats.org/drawingml/2006/main">
            <a:r>
              <a:t>
[Sources]
- code/ops/BUILD_INVESTOR_READY_BUSINESS_PLAN_20260703.py
- Internal positioning hypothesis.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Qualification gates are operating controls, not forecast conversion rates.</a:t>
            </a:r>
          </a:p>
          <a:p xmlns:a="http://schemas.openxmlformats.org/drawingml/2006/main">
            <a:r>
              <a:t>
[Sources]
- code/ops/BUILD_FIRST_BUYER_TARGET_BOARD.py
- Internal go-to-market sequence.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Local: out/ops/prooflock_opportunity_ops_pilot/latest/prooflock_opportunity_ops_pilot_definition.json</a:t>
            </a:r>
          </a:p>
          <a:p xmlns:a="http://schemas.openxmlformats.org/drawingml/2006/main">
            <a:r>
              <a:t>
[Sources]
- code/ops/BUILD_FIELD_VALIDATION_BUYER_PILOT_PACKET.py
- Proposed paid-pilot evidence contract.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docs/LUMENCORE_SOURCE_NATIVE_BENCHMARK_WHITEPAPER_CURRENT.md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No funding amount, valuation, dilution, or spend authorization is represented.</a:t>
            </a:r>
          </a:p>
          <a:p xmlns:a="http://schemas.openxmlformats.org/drawingml/2006/main">
            <a:r>
              <a:t>
[Sources]
- code/ops/BUILD_SOURCE_NATIVE_RESEARCH_WHITEPAPER.py
- Funding use is a proposed validation plan.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docs/LUMENCORE_SOURCE_NATIVE_BENCHMARK_WHITEPAPER_CURRENT.md</a:t>
            </a:r>
          </a:p>
          <a:p xmlns:a="http://schemas.openxmlformats.org/drawingml/2006/main">
            <a:r>
              <a:t>- Local: config/prooflock_opportunity_ops_pilot_v1.json</a:t>
            </a:r>
          </a:p>
          <a:p xmlns:a="http://schemas.openxmlformats.org/drawingml/2006/main">
            <a:r>
              <a:t>- The ask is for a bounded validation relationship, not an external performance claim.</a:t>
            </a:r>
          </a:p>
          <a:p xmlns:a="http://schemas.openxmlformats.org/drawingml/2006/main">
            <a:r>
              <a:t>
[Sources]
- grant_submissions/funding_sprint_20260709/CURRENT_REVIEWER_FRONT_DOOR_2026-07-29.md
- Bounded ask and human release controls.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486c6a66b49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aebe5393a24483" /><Relationship Type="http://schemas.openxmlformats.org/officeDocument/2006/relationships/slideLayout" Target="/ppt/slideLayouts/slideLayout1.xml" Id="R029a2859792043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9a2859792043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f1bd563704e63" /><Relationship Type="http://schemas.openxmlformats.org/officeDocument/2006/relationships/image" Target="/ppt/media/image.png" Id="R66b7b730e9df4a64" /><Relationship Type="http://schemas.openxmlformats.org/officeDocument/2006/relationships/notesSlide" Target="/ppt/notesSlides/notesSlide1.xml" Id="R802cc5b090eb48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33a6ef5014e0c" /><Relationship Type="http://schemas.openxmlformats.org/officeDocument/2006/relationships/notesSlide" Target="/ppt/notesSlides/notesSlide2.xml" Id="R621863cb80b44e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da17dabc24ca6" /><Relationship Type="http://schemas.openxmlformats.org/officeDocument/2006/relationships/notesSlide" Target="/ppt/notesSlides/notesSlide3.xml" Id="R683f997a97c041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4b283a137439a" /><Relationship Type="http://schemas.openxmlformats.org/officeDocument/2006/relationships/notesSlide" Target="/ppt/notesSlides/notesSlide4.xml" Id="R2c38929c928b45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31c3fe4f44eba" /><Relationship Type="http://schemas.openxmlformats.org/officeDocument/2006/relationships/notesSlide" Target="/ppt/notesSlides/notesSlide5.xml" Id="Rc8d2b63340b94e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5081125044234" /><Relationship Type="http://schemas.openxmlformats.org/officeDocument/2006/relationships/notesSlide" Target="/ppt/notesSlides/notesSlide6.xml" Id="R6189c19bd30445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e2daa07fd43c0" /><Relationship Type="http://schemas.openxmlformats.org/officeDocument/2006/relationships/notesSlide" Target="/ppt/notesSlides/notesSlide7.xml" Id="R9ba37cdf510f49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886cf60f64213" /><Relationship Type="http://schemas.openxmlformats.org/officeDocument/2006/relationships/notesSlide" Target="/ppt/notesSlides/notesSlide8.xml" Id="Rfd982ea9792146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3af7e4d1f4ee1" /><Relationship Type="http://schemas.openxmlformats.org/officeDocument/2006/relationships/notesSlide" Target="/ppt/notesSlides/notesSlide9.xml" Id="R83cc7495e11943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de7671a404359" /><Relationship Type="http://schemas.openxmlformats.org/officeDocument/2006/relationships/notesSlide" Target="/ppt/notesSlides/notesSlide10.xml" Id="R55006f4d86524c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5bc171b5d489c" /><Relationship Type="http://schemas.openxmlformats.org/officeDocument/2006/relationships/notesSlide" Target="/ppt/notesSlides/notesSlide11.xml" Id="Re415e2fdfca849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F2042-1941-4401-8939-13D16BF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C5697-FF34-46CA-8C8E-191BAB9C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4000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LUMENCORE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991D-EDAD-4BF8-8F1B-7DE62892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335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Evidence-to-pilot infrastructure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 reviewable AI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972FF-BF9B-49AE-AF0A-3D8FEE5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BD5D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DB"/>
                </a:solidFill>
                <a:latin typeface="Aptos"/>
                <a:ea typeface="Aptos"/>
                <a:cs typeface="Aptos"/>
              </a:rPr>
              <a:t>Turn a candidate method into a reproducible decision packet before any field or performance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F3AA-C951-4D54-8D9F-B07FEED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B7453-5336-470B-9C47-63D99ECB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REVIEW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E093D-EB3D-41FC-BBDB-4CB43F1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0">
            <a:solidFill>
              <a:srgbClr val="F6E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36CBD-85D7-42D5-B892-3265C598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INDEPENDENT VALIDATION 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B11AA-54FF-4913-8BA3-C1E053D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Robert Ashworth | Founder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C983-5C75-4B47-A720-4A3CABE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"/>
            <a:ext cx="5848350" cy="5238750"/>
          </a:xfrm>
          <a:prstGeom xmlns:a="http://schemas.openxmlformats.org/drawingml/2006/main" prst="roundRect">
            <a:avLst>
              <a:gd name="adj" fmla="val 1455"/>
            </a:avLst>
          </a:prstGeom>
          <a:solidFill xmlns:a="http://schemas.openxmlformats.org/drawingml/2006/main">
            <a:srgbClr val="20272C"/>
          </a:solidFill>
          <a:ln xmlns:a="http://schemas.openxmlformats.org/drawingml/2006/main" w="9525">
            <a:solidFill>
              <a:srgbClr val="3A454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7b730e9df4a6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742950"/>
            <a:ext cx="5543550" cy="4933950"/>
          </a:xfrm>
          <a:prstGeom xmlns:a="http://schemas.openxmlformats.org/drawingml/2006/main" prst="roundRect">
            <a:avLst>
              <a:gd name="adj" fmla="val 115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B93E0-30B4-45D1-B3CB-EDDE5F4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905500"/>
            <a:ext cx="544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Local proof room snapshot | 2026-07-29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3A077-A356-4E6D-932C-F31E280C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1B83D-09F3-47D0-9A3C-6C2C420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367409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955D6-FE0A-4A80-9BA0-1590725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0C56F-F3A9-4C55-A1EC-60985FC8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Evidence fails before models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611C1-948A-427E-86A0-E3E18C9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1E634-4194-4A5C-B4A3-A089752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4FFFE-E580-4B9F-91AE-103E5E2D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 high-consequence operations, a buyer is not purchasing a score. The buyer is purchasing a defensible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AADB0-38E9-48D1-B80A-1F8A65C5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strong result can still fail review when the evidence trail cannot answer four basic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1C219-09E4-4B49-9905-81C7B5B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77298-5796-44EA-A3BD-8C0785F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EF2D0-198E-49CC-AF06-B344D65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 identity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allowed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1C451-927F-4F55-85FA-0C1BFBD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8D9C5-335A-45E0-B33F-76A47DA5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C2041-5246-4440-89EA-AF5B4943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 and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metric 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7A255-B303-494F-B6B1-688E5FD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5186-5822-4855-BF47-2BD5BEA0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003CD-E9FD-4D5A-86B3-64ACE4F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Negative results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uncertainty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42E30-5491-4192-9A80-DE8E7A3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121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595111-7703-4800-BEA5-22F61345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9550"/>
            <a:ext cx="121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24F1C-9963-4EA8-9897-57F6ED2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76750"/>
            <a:ext cx="121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Receipt, owner,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and next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C5B5B-125F-445F-BA0C-300501C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493395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B8428-1A34-4428-9B44-BCE27F5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8444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84444"/>
                </a:solidFill>
                <a:latin typeface="Aptos"/>
                <a:ea typeface="Aptos"/>
                <a:cs typeface="Aptos"/>
              </a:rPr>
              <a:t>WHAT BREAKS TRUST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DD64A-427F-48CE-84A4-7EEC9272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60C91-789C-49FB-BB23-C0047819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Data leakage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6D408B-6689-4B99-967F-251C1D64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Future information contaminates the test.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4190A-E328-4BD7-AEB3-BF1D36E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957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1DC4C-F5C9-4356-AF4A-41F495DD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Moving goalposts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64AE4-FAC5-4CE3-89A6-9F5A7F2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242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Baselines or metrics change after results appear.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93E08-1993-4ACD-A903-C529159D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E1485-6287-4D88-A589-5175276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Hidden negatives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1E9EC4-B0C0-4E65-9611-60F3A641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52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Only favorable runs survive into the deck.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49084-68AB-4EFF-8C57-175B285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5FCD1-DB77-4557-A83F-D55F4DDD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No custody trail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5AE65-B7EB-4626-A0D6-C07686E9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artifact cannot be tied to code, data, or time.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351E11-B409-4D47-9FB8-5E48AD90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9B3306-E945-456C-B941-C871B08C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709079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51E07B-F747-4C84-80C6-C24C807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997F9-5734-4380-8807-CFC4BCA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One bounded workflow from claim to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A8F84-403A-4604-B304-5C8B894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1AF16-44F3-4498-8CA5-897EBE5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F9A95-0F33-4CAE-ACD2-2934106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makes the evidence path explicit before any claim is promoted.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40B7B-1F41-4D47-9865-A9E6FADF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9C3CB-7F3B-4FBC-A408-D69467C3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FEAF3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E7833-2050-4FB9-9CE0-91906CF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19050">
            <a:solidFill>
              <a:srgbClr val="B878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15014D-AEF7-4708-8A10-21E0B66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1336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11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4864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11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305800" y="35718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9978C-98E2-48D1-A112-FA2386E0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0BB15-1EB9-4D89-AE34-80B5021E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FREEZE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BBBF1-49A4-4C47-9E60-D4CA5312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Dataset, baseline, metric, window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1343A-E961-4DD6-AF46-ECFB772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5E74F-D47C-4BDD-AAB1-9A35C863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0F8981-E9C7-4510-8BB4-F5335A6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Past-only execution with held-out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548CA-BC69-4F07-AEE8-C7A1547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925C4-7139-4FDD-8EDA-2D903DC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BB873-656A-40DF-AD21-86EA482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Uncertainty, abstention, and negative-result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8FD78-6368-41FA-870E-D7997070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99FFC-2BE6-4FB3-81A9-6279876E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718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RECEIPT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A028E-6E4E-49B0-B6E3-FA5981A3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1676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Hash, custody record, owner, and pilot 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F1E04-5DD1-4A14-8A39-6A0E5A8F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E8E17-EF8D-4178-9BBE-08504A38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95875"/>
            <a:ext cx="430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APPROVAL BEFORE EXTERNAL RELEASE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183AA-CC3A-4A3D-BC7A-5BA3F48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95950"/>
            <a:ext cx="822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Output: a reviewer-readable packet that can be reproduced, challenged, and used to decide whether a scoped pilot is warranted.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0B0BB-5347-424A-A9A9-8BF09BA0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0571CC-56E0-4E6B-B973-34016D94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752247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09C592-A3F9-449D-B8BC-F82BCD2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D6B01-6154-438A-8170-8CCF12BD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Start where one bad decision is expensive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32453-74D9-48BD-B0D6-3FC8206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B3FA6-0BF4-4C89-9CD0-A24D875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93B81-FE30-4C22-A429-ECAEC23B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Target hypothesis: organizations with costly reliability, planning, or forecasting errors and an incumbent baseline they already trust.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E5F02-7133-4B45-908B-A7DAA69C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81B7F-5CC4-4492-A2F5-A91F5B93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UTILITY / GRID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5C5DD-F31A-4BFB-BD3A-50E482BC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87F27-810D-456D-989B-A5C99BC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Analytics or operations lead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80AFE-DF5E-4892-8F81-9AB0BF4B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FFF37-1F83-4391-8F2A-62379B50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planning or forecasting model cannot clear internal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6D904-99F8-4F59-B10C-F72647C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00339-461A-453D-BA60-7C817DBD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Decision receipt + replay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04008-057C-42F7-AF6A-31BB319D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FA708-DD8F-4A21-B5BC-142652FA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LAB / AGENCY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01901-B2E5-43CC-B80B-5628ED25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BA466-D314-45B0-92F0-BFCF829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Program or technical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60566-EB95-44C1-8F4B-15B92B4A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B97F6-1049-438C-A8C2-AF0237F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research result needs a reproducible route to a field partner.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54ECE-13CF-469F-85F8-BE3EC992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99A051-0520-45A9-90A3-34AD44BB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Reviewer packet + validation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54C18-97E6-484D-B696-D78B7B4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F35D4-71DE-4BC0-B41B-B293B23E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71775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INDUSTRIAL RELIABILITY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A2BFEA-2A32-4B95-8E8A-AF94D9F6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65D35-88DB-4C66-AAC6-36C273AB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Reliability or asset lead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7B20BC-D37E-4C07-993C-05255A9A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771650-F5AC-4E8F-A9C0-218243CE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6275"/>
            <a:ext cx="312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 failure-risk signal needs proof against the incumbent rule or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F9E67-3CAA-44CE-A91F-0BECED2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81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PILOT 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0C630E-9537-4B4C-AC6D-A980AE7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1022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Scoped pilot + accepted evidence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88437-1DCE-4CEB-AF9C-C2D2DA5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2CB11-F4FA-4D41-BB43-26A08DF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077944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EVIDENCE POSTURE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Current evidence is measurable, including the negative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SOURCE-NATIVE LEDGER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Retrospective benchmark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140 registered families; 35 implementations present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126 direct comparisons across 23 candidate-source cards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0 global Holm-positive 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0 promoted champions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Supports bounded software, custody, and protocol review. No alpha, superiority, savings, or field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FROZEN PROSPECTIVE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Future-only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Eight source-native baselines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Sixteen one-sided Holm contrasts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520 future daily sessions or 60 monthly releases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Zero eligible future observations today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Protocol LUMENCORE_TS_SOURCE_NATIVE_20260729_V1 is frozen and waiting for new source rows.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7485F-7B7B-4430-81DF-DC86D07D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7946D-05D8-4D9C-8855-CDBB47B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Commercial path begins with an accepted evidence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9E773-C846-4A55-B3C0-7C79B6B3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E1FF1-CF96-42A7-A6AD-2F27820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32884-DAB4-4BCC-BF05-75712A66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Three offers create a bounded entry, a controlled validation event, and a post-pilot expansion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C9D70-F2A1-4E02-81FC-E40C9994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6983-A844-4C8D-A5BA-3D244C8A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1. EVIDENCE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7142C-FAAF-49DD-AA4A-AA062B52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SCOPED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318FE-542C-4BDF-8615-21676980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Price unquoted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532AD-588D-4015-AB77-8AABA25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Define the decision, lock the incumbent baseline, and produce a reviewer-ready evidence plan.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1A4A-72BD-4525-A035-AC515308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Technical sponsor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22689-6DB3-4C6C-B4C6-ED7E5630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0">
            <a:solidFill>
              <a:srgbClr val="1D5D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61E1B-D92F-4021-AA38-4AF33240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2. CONTROLLED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F69D-E83A-44AD-B420-48EA45D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GATED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707B8-E310-4831-AD87-9A6825D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Buyer-defined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9C23F-6CAA-4611-A414-FB332A77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Replay buyer-controlled data against a written acceptance gate and issue an auditable receipt.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44D9D-D0FC-4E5E-AD59-C53ED373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Design partner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C9D84-D3DD-42E7-83F0-B87F236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05075"/>
            <a:ext cx="3124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A6A31-ECB2-426F-BA93-50AEB173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3. PROGRAM LICENSE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8124D-7B8F-4357-B80E-622BE324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67075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POST-PILOT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4AB53B-80F1-4F97-89E7-3942300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95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After accepted receipt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92AF7-98FD-4FDD-8E6B-E52E296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76725"/>
            <a:ext cx="312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Automate repeatable reviews, evidence custody, governance, support, and approved workflows.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21C1E-609A-4FF9-B1EC-30133E8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626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Buyer: Program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82DC7-37F5-45D4-B0D1-41EF20EE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pricing, paid customer, savings, or contract is claimed. Scope and price require founder approval.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745A18-749B-463B-A61E-16D1E77C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62B0B6-F006-4C14-88FF-061EEC9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8178841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158CB-4299-43A2-A07E-1D7662E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COMPETITIVE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6ACB3-36CD-4D51-9380-644D7E2F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Positioned between model tooling and audit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C30B-8226-4E17-8919-9CE6765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860CA-CF96-4AE2-AB79-4285943B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CDF04-F849-4692-943F-B0B26DBE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The wedge is not another model leaderboard. It is an evidence operating layer for decisions that must survive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5377B-47C6-4E8F-9CC8-827FA7A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17E9F-C3AA-42AF-A734-8A8089FC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3A8ED-E364-48EB-B3AF-729A676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F42D5-DA03-4554-B13E-AC6BF5B4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814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1"/>
          </a:solidFill>
          <a:ln xmlns:a="http://schemas.openxmlformats.org/drawingml/2006/main" w="0">
            <a:solidFill>
              <a:srgbClr val="E9EEF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F3EE8-1682-4892-996C-9AD7419C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LOW AUDITABILITY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46BE6-07AC-4AA1-B210-A3038B1E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91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HIGH AUDITABILITY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286A1-2BA9-426B-881A-E467D3F6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705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REPEATABLE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E455B-0067-456E-8E81-56907D4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911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BESPOKE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7A7D4-0CA3-445B-87A7-BCD3519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14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0DEE6-FCE6-47C1-8586-701AED4D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6386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AD HOC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6B0BD1-5800-4DF9-9031-663E3AB1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52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D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5CAE38-15C5-4460-93FE-D077F947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766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GENERIC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MLOPS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C944C-3791-4285-BBB8-2728E3C1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24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45ED6-4FC2-4835-874C-FEFFAD76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448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CONSULTING /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AUDIT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CF8E08-3803-4F60-A38E-8BCB4F37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80D23-5577-48A9-BB01-E4AB4B9E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670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LUMENCORE</a:t>
            </a:r>
          </a:p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TARGET 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3BF53-F49B-41DA-B99C-73CD12AE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86050"/>
            <a:ext cx="2552700" cy="29718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BD5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40AD7-BC80-465A-B0F1-A56ACE9B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DISTINCTIVE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46843-8B5B-48F7-92DF-4077A0A7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33750"/>
            <a:ext cx="2019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Past-only replay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Frozen baseline and metric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Visible negatives and abstention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Hashable custody receipt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Human release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60D44-8CB1-4862-B364-D251FF3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293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Positioning hypothesis; not a market-share or superiority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79862-78F2-42D8-9FD8-C4535FF8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F0175-1F8F-42F3-8555-526F3199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564095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5DE500-5E34-4BE8-BBBD-DCD2CB5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64644-C96A-44F8-B1CF-77454F5F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 one hard problem, prove it, then expand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8433A-BC97-48FE-BE25-B1147204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E93D4-194A-491A-9486-8C335CEE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342A-9FE1-4C7E-B8A6-3D18A89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The near-term objective is one serious design partner with controlled data and an accepted incumbent baseline.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01D9B-60CF-4C28-9C91-8B94F338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7F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11082-9A06-43B3-8A55-2B2AF8A8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5D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A913C-40C9-4907-8AB4-F7D32087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2857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7452"/>
            </a:solidFill>
            <a:prstDash val="solid"/>
          </a:ln>
        </p:spPr>
      </p:sp>
      <p:cxnSp>
        <p:nvCxnSpPr>
          <p:cNvPr id="9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19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48500" y="39147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0D0F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84FC8-5DA2-4C17-A479-630FCE2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24336-CC85-47FE-A07E-8A1C0928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QUALIFY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E9910-0DC3-4671-B7A4-B7F9263C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Confirm the owner, decision, data rights, baseline, cost of error, and approval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162AB-9B9C-4A91-B760-784E408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Gate: written problem +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E1D67-FF2E-41E2-A401-1DCBB7A6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9F612-D348-4299-8B34-AB37FD7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6A5DA-DC23-4C8A-B5DD-EED5991D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Run a preregistered replay on buyer-controlled data and preserve every favorable and unfavorable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25CAAB-D8DA-4196-B4AA-F5A918E7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D5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5D91"/>
                </a:solidFill>
                <a:latin typeface="Aptos"/>
                <a:ea typeface="Aptos"/>
                <a:cs typeface="Aptos"/>
              </a:rPr>
              <a:t>Gate: accepted evidence receipt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51075-8E4C-4CEE-A624-90AD412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497C8-6B72-4717-838C-9438AA1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8BDE7-5B41-4200-84E6-FB16869E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76675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2"/>
                </a:solidFill>
                <a:latin typeface="Aptos"/>
                <a:ea typeface="Aptos"/>
                <a:cs typeface="Aptos"/>
              </a:rPr>
              <a:t>Convert the accepted pilot into repeatable workflows, annual support, and adjacent decisions.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C67083-A157-4B68-A0A8-924CA177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Gate: paid renewal or license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85B64-68FE-4C62-B30A-E0227C28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FDBDE-31F6-4F27-A5AE-3ADFA7D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QUALIFICATION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83099-25CD-4F84-9ED2-26C5D361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817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Named owner  |  accepted baseline  |  controlled dataset  |  written acceptance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C0727-2887-46DB-8D08-FE0EC29F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E226E1-7A0E-453D-87F2-52E337BD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988580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PILOT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 paid pilot is defined by acceptance, not a sales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 SUPPLIES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Controlled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Named decision owner and operating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Lawfully controlled data with allowed-use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Accepted incumbent baseline and 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Written cost-of-error and acceptance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Inputs define the decision contract before any pilot price, schedule, or outcome is represented.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LUMENCORE RETURNS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Auditable receipt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Frozen configuration and custody receipt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Past-only replay against the accepted baseline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Favorable, neutral, negative, and invalid outcomes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Human-owned next decision with no automatic 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No savings, ROI, or field-performance claim before a buyer-controlled result.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0D8BCC-8132-456C-84D3-B2EC04CA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FUNDING DISCIPLINE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179E3-658E-45C4-ADBE-8A498C1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Near-term funding should buy independent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DDCD2-4860-490A-9ADB-66770FEC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333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6BD4-A1F5-46B2-9994-2556BFC8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0F"/>
          </a:solidFill>
          <a:ln xmlns:a="http://schemas.openxmlformats.org/drawingml/2006/main" w="0">
            <a:solidFill>
              <a:srgbClr val="0B0D0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CAD72-CA19-47B6-B8E5-EC80BF6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1435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DDEDE5"/>
          </a:solidFill>
          <a:ln xmlns:a="http://schemas.openxmlformats.org/drawingml/2006/main" w="9525">
            <a:solidFill>
              <a:srgbClr val="1E74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F792B-617E-41B0-95FF-E625745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AF7E8D-A47D-434A-B83C-2F2261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MILESTONE-ELIGIBLE 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9A2A6-BF3C-41E7-A4C3-58048FD2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What funding unlocks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EF426-F904-44BF-81D9-22E83C7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F4ECF-A97F-43EE-AB52-27087048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CBD60-3E06-41EC-9B26-8F33CC09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337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Outcome-independent evaluator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119B1-8373-476D-9C08-830B1967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FAB69-D806-4B68-AF72-74B4A58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31F3C-DEB8-44AF-99BD-2D4C537A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Controlled-data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8F582-BBC5-401B-BB10-C90930F5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205D4-B1CB-4954-8650-E7E5F38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8BDCA-FA03-4BAF-81AA-2E1E40A9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Security, insurance, and compliance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1400C-1633-4ED0-8B3D-1BC96169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452"/>
          </a:solidFill>
          <a:ln xmlns:a="http://schemas.openxmlformats.org/drawingml/2006/main" w="0">
            <a:solidFill>
              <a:srgbClr val="1E74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018A6-DEFF-485F-B927-3973B01D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0815E-84AD-4609-9B22-A92248D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33925"/>
            <a:ext cx="401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Buyer design sessions with written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E6C3-9781-41A1-925F-97F56E3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E74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E7452"/>
                </a:solidFill>
                <a:latin typeface="Aptos"/>
                <a:ea typeface="Aptos"/>
                <a:cs typeface="Aptos"/>
              </a:rPr>
              <a:t>Milestone: an independently reproducible receipt and a written paid-expansion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A3509-3DE8-47FC-8200-76789B80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6769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F6E9C8"/>
          </a:solidFill>
          <a:ln xmlns:a="http://schemas.openxmlformats.org/drawingml/2006/main" w="9525">
            <a:solidFill>
              <a:srgbClr val="B878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0E1BFD-FAE8-474D-AEF2-8C4F342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8CD05-A88C-47FA-A1FE-0269ACB5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EXCLUDED WITHOUT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1D0EBD-E741-41F6-BFC4-D457E501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14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0D0F"/>
                </a:solidFill>
                <a:latin typeface="Aptos"/>
                <a:ea typeface="Aptos"/>
                <a:cs typeface="Aptos"/>
              </a:rPr>
              <a:t>What this deck does not authorize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64809-C4C1-4E76-B0D0-41D20874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4BC13-F6DA-4288-BAFD-3E76054F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527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2B39A-771E-46FB-A75F-C3B69013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337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Valuation, dilution, or financing terms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29706-55F3-41F2-B1FA-A722656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ED9727-B300-4288-8DD5-EF6119FB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861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70EB7-B4E6-405F-90EC-5B626AB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671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Unrestricted scale or marketing spend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1DEAD-A5BF-47CF-A062-BCFC7017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9D7A3F-255D-4923-8E6D-4D27D10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5F9704-1B4F-478A-95D5-7D8806B4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005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Live trading or autonomous external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91557A-33E9-4451-BA9E-C34B35A5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800"/>
          </a:solidFill>
          <a:ln xmlns:a="http://schemas.openxmlformats.org/drawingml/2006/main" w="0">
            <a:solidFill>
              <a:srgbClr val="B878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CF4F28-B508-4C4F-9933-5A7FF1F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52975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DC18E7-023C-4169-8791-696D071E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0D0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B0D0F"/>
                </a:solidFill>
                <a:latin typeface="Aptos"/>
                <a:ea typeface="Aptos"/>
                <a:cs typeface="Aptos"/>
              </a:rPr>
              <a:t>Patent, legal, or certification assertions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820912-11DD-43B9-B4D0-4E7F22D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054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8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7800"/>
                </a:solidFill>
                <a:latin typeface="Aptos"/>
                <a:ea typeface="Aptos"/>
                <a:cs typeface="Aptos"/>
              </a:rPr>
              <a:t>Amount, pricing, dilution, legal terms, and spend remain unapproved.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6F11DF-7DC0-4EC6-908F-2DB09B0D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49083A-DA1C-4FC0-A5EB-671CAE2D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5D697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D6972"/>
                </a:solidFill>
                <a:latin typeface="Aptos"/>
                <a:ea typeface="Aptos"/>
                <a:cs typeface="Aptos"/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1853948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B64548-999C-481B-996D-EF2E3D2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F7A"/>
          </a:solidFill>
          <a:ln xmlns:a="http://schemas.openxmlformats.org/drawingml/2006/main" w="0">
            <a:solidFill>
              <a:srgbClr val="0A7F7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47B07-C377-4BBC-8EFD-1A71AD2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0DF36F-8BFB-4CC4-8698-C0192638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Help us earn the first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proof receipt.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EE1358-9C60-4661-B346-335FC5E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6343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8D1D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D1D6"/>
                </a:solidFill>
                <a:latin typeface="Aptos"/>
                <a:ea typeface="Aptos"/>
                <a:cs typeface="Aptos"/>
              </a:rPr>
              <a:t>LumenCore is ready for one named buyer, one accepted baseline, one controlled dataset, and one result an independent party can reproduce.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80BF2-F987-4288-920F-A4F4956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19150"/>
            <a:ext cx="3981450" cy="457200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171E23"/>
          </a:solidFill>
          <a:ln xmlns:a="http://schemas.openxmlformats.org/drawingml/2006/main" w="9525">
            <a:solidFill>
              <a:srgbClr val="3B47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D164F-9E19-4D54-99FD-7261DE68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62050"/>
            <a:ext cx="3105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WHAT WE NEED FROM A DESIGN PARTNER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6148-5208-46F7-B7D3-E19DB850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32E76-83A2-43F5-B3CA-B1F64DF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 introduction in energy, infrastructure, or agency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3E3A-3450-4185-B37C-31EFD15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1645D-6031-4D5D-90A4-1E496A31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9F8E1-29A4-4942-9B22-D1ED496E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336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Outcome-independent evaluator with a frozen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FCD89-38B0-4869-9106-7A2CC37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0E294-B623-4418-8A95-A3C6276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FE8B6-8FEC-40F1-BFFB-2E678CBE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Qualified prime or contracting route when relevant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4D9A0-1EBD-48F2-8667-0E8D28F1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47"/>
          </a:solidFill>
          <a:ln xmlns:a="http://schemas.openxmlformats.org/drawingml/2006/main" w="0">
            <a:solidFill>
              <a:srgbClr val="3440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A0BB4-47FD-4F38-8A58-92B2B0B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121B4-D110-490A-A24B-9C42E04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Scoped paid pilot after written acceptance gates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C354F-1621-41AA-AEF7-DF92EB8E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81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Robert Ashworth | Founder, LumenCore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89F57-9E98-40B1-B374-3F9AB4A3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F7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A7F7A"/>
                </a:solidFill>
                <a:latin typeface="Aptos"/>
                <a:ea typeface="Aptos"/>
                <a:cs typeface="Aptos"/>
              </a:rPr>
              <a:t>Current software and protocol evidence. External performance validation next.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16BB2-3E3A-4012-90A9-00DD9645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0557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LUMENCORE | EVIDENCE-TO-PILOT BRIEF | 2026-07-29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DB31E-2BAD-4DB9-82EE-17788C29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055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AAB5BC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AB5BC"/>
                </a:solidFill>
                <a:latin typeface="Aptos"/>
                <a:ea typeface="Aptos"/>
                <a:cs typeface="Aptos"/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538964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2026-07-29T15:36:18.2550000Z</dcterms:created>
  <dcterms:modified xsi:type="dcterms:W3CDTF">2026-07-29T15:36:18.2560000Z</dcterms:modified>
</coreProperties>
</file>