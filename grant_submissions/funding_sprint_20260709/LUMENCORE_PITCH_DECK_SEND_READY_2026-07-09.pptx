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73b2fb7d1494262" /><Relationship Type="http://schemas.openxmlformats.org/officeDocument/2006/relationships/extended-properties" Target="/docProps/app.xml" Id="R381712d9e60345b4" /><Relationship Type="http://schemas.openxmlformats.org/officeDocument/2006/relationships/officeDocument" Target="/ppt/presentation.xml" Id="R36ecefa5b262434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dc7d7bcafa14580"/>
  </p:sldMasterIdLst>
  <p:notesMasterIdLst>
    <p:notesMasterId xmlns:r="http://schemas.openxmlformats.org/officeDocument/2006/relationships" r:id="R3431155e6ef24dae"/>
  </p:notesMasterIdLst>
  <p:sldIdLst>
    <p:sldId xmlns:r="http://schemas.openxmlformats.org/officeDocument/2006/relationships" id="256" r:id="Reb4c1bb8fe4842b3"/>
    <p:sldId xmlns:r="http://schemas.openxmlformats.org/officeDocument/2006/relationships" id="257" r:id="R68b6ea911f4a439e"/>
    <p:sldId xmlns:r="http://schemas.openxmlformats.org/officeDocument/2006/relationships" id="258" r:id="R0881b9a055ea480a"/>
    <p:sldId xmlns:r="http://schemas.openxmlformats.org/officeDocument/2006/relationships" id="259" r:id="Ra8566b3bd8e94995"/>
    <p:sldId xmlns:r="http://schemas.openxmlformats.org/officeDocument/2006/relationships" id="260" r:id="R28431164c8a34304"/>
    <p:sldId xmlns:r="http://schemas.openxmlformats.org/officeDocument/2006/relationships" id="261" r:id="R1c7710a372164e88"/>
    <p:sldId xmlns:r="http://schemas.openxmlformats.org/officeDocument/2006/relationships" id="262" r:id="Ref00f80dd03c46a2"/>
    <p:sldId xmlns:r="http://schemas.openxmlformats.org/officeDocument/2006/relationships" id="263" r:id="R102afdf577f444db"/>
    <p:sldId xmlns:r="http://schemas.openxmlformats.org/officeDocument/2006/relationships" id="264" r:id="Re33f52066be24e1b"/>
    <p:sldId xmlns:r="http://schemas.openxmlformats.org/officeDocument/2006/relationships" id="265" r:id="R2ae618cd0aaa427f"/>
    <p:sldId xmlns:r="http://schemas.openxmlformats.org/officeDocument/2006/relationships" id="266" r:id="Ra45e4fa50cb24fb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dece595845640d3" /><Relationship Type="http://schemas.openxmlformats.org/officeDocument/2006/relationships/slideMaster" Target="/ppt/slideMasters/slideMaster1.xml" Id="R2dc7d7bcafa14580" /><Relationship Type="http://schemas.openxmlformats.org/officeDocument/2006/relationships/notesMaster" Target="/ppt/notesMasters/notesMaster1.xml" Id="R3431155e6ef24dae" /><Relationship Type="http://schemas.openxmlformats.org/officeDocument/2006/relationships/presProps" Target="/ppt/presProps.xml" Id="Rbf5bff3f12194b4b" /><Relationship Type="http://schemas.openxmlformats.org/officeDocument/2006/relationships/tableStyles" Target="/ppt/tableStyles.xml" Id="Rebc2f2d6e9714e26" /><Relationship Type="http://schemas.openxmlformats.org/officeDocument/2006/relationships/slide" Target="/ppt/slides/slide1.xml" Id="Reb4c1bb8fe4842b3" /><Relationship Type="http://schemas.openxmlformats.org/officeDocument/2006/relationships/slide" Target="/ppt/slides/slide2.xml" Id="R68b6ea911f4a439e" /><Relationship Type="http://schemas.openxmlformats.org/officeDocument/2006/relationships/slide" Target="/ppt/slides/slide3.xml" Id="R0881b9a055ea480a" /><Relationship Type="http://schemas.openxmlformats.org/officeDocument/2006/relationships/slide" Target="/ppt/slides/slide4.xml" Id="Ra8566b3bd8e94995" /><Relationship Type="http://schemas.openxmlformats.org/officeDocument/2006/relationships/slide" Target="/ppt/slides/slide5.xml" Id="R28431164c8a34304" /><Relationship Type="http://schemas.openxmlformats.org/officeDocument/2006/relationships/slide" Target="/ppt/slides/slide6.xml" Id="R1c7710a372164e88" /><Relationship Type="http://schemas.openxmlformats.org/officeDocument/2006/relationships/slide" Target="/ppt/slides/slide7.xml" Id="Ref00f80dd03c46a2" /><Relationship Type="http://schemas.openxmlformats.org/officeDocument/2006/relationships/slide" Target="/ppt/slides/slide8.xml" Id="R102afdf577f444db" /><Relationship Type="http://schemas.openxmlformats.org/officeDocument/2006/relationships/slide" Target="/ppt/slides/slide9.xml" Id="Re33f52066be24e1b" /><Relationship Type="http://schemas.openxmlformats.org/officeDocument/2006/relationships/slide" Target="/ppt/slides/slide10.xml" Id="R2ae618cd0aaa427f" /><Relationship Type="http://schemas.openxmlformats.org/officeDocument/2006/relationships/slide" Target="/ppt/slides/slide11.xml" Id="Ra45e4fa50cb24fb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13f46a315214ca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c073fc15ad8475f" /><Relationship Type="http://schemas.openxmlformats.org/officeDocument/2006/relationships/notesMaster" Target="/ppt/notesMasters/notesMaster1.xml" Id="R2a4d21fab6c145a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606a4b4c2b64d31" /><Relationship Type="http://schemas.openxmlformats.org/officeDocument/2006/relationships/notesMaster" Target="/ppt/notesMasters/notesMaster1.xml" Id="R46ef62adff5a459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ba46ec606ea467e" /><Relationship Type="http://schemas.openxmlformats.org/officeDocument/2006/relationships/notesMaster" Target="/ppt/notesMasters/notesMaster1.xml" Id="Rc457785a7243452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5140cc7d28149e2" /><Relationship Type="http://schemas.openxmlformats.org/officeDocument/2006/relationships/notesMaster" Target="/ppt/notesMasters/notesMaster1.xml" Id="Rdeafca940f9e418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7d697373de1430c" /><Relationship Type="http://schemas.openxmlformats.org/officeDocument/2006/relationships/notesMaster" Target="/ppt/notesMasters/notesMaster1.xml" Id="Rca2822c1955a4e4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647fa61b6d54483" /><Relationship Type="http://schemas.openxmlformats.org/officeDocument/2006/relationships/notesMaster" Target="/ppt/notesMasters/notesMaster1.xml" Id="R97ad6d6fbafc4e4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86588b296794f62" /><Relationship Type="http://schemas.openxmlformats.org/officeDocument/2006/relationships/notesMaster" Target="/ppt/notesMasters/notesMaster1.xml" Id="R672ce555572f4ed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c6125c4f1d34665" /><Relationship Type="http://schemas.openxmlformats.org/officeDocument/2006/relationships/notesMaster" Target="/ppt/notesMasters/notesMaster1.xml" Id="R03cccd50a79a4e5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15b8ee6129843e6" /><Relationship Type="http://schemas.openxmlformats.org/officeDocument/2006/relationships/notesMaster" Target="/ppt/notesMasters/notesMaster1.xml" Id="R3f620084b66448f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4e8eddf1855470a" /><Relationship Type="http://schemas.openxmlformats.org/officeDocument/2006/relationships/notesMaster" Target="/ppt/notesMasters/notesMaster1.xml" Id="R52ffa7b12299424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2ffa8d161d44c54" /><Relationship Type="http://schemas.openxmlformats.org/officeDocument/2006/relationships/notesMaster" Target="/ppt/notesMasters/notesMaster1.xml" Id="R4e42e166b97a4ea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6cb4a49425426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ca28418504045c4" /><Relationship Type="http://schemas.openxmlformats.org/officeDocument/2006/relationships/slideLayout" Target="/ppt/slideLayouts/slideLayout1.xml" Id="Rf96eb19f1dbe4ca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96eb19f1dbe4ca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6bd42413174b5a" /><Relationship Type="http://schemas.openxmlformats.org/officeDocument/2006/relationships/notesSlide" Target="/ppt/notesSlides/notesSlide1.xml" Id="R7490ecff81f44a5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a44a3f8232462a" /><Relationship Type="http://schemas.openxmlformats.org/officeDocument/2006/relationships/notesSlide" Target="/ppt/notesSlides/notesSlide2.xml" Id="R57d4f951d6c1442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e4345cd35b4454" /><Relationship Type="http://schemas.openxmlformats.org/officeDocument/2006/relationships/notesSlide" Target="/ppt/notesSlides/notesSlide3.xml" Id="Rfde413087692430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15cab4246748cc" /><Relationship Type="http://schemas.openxmlformats.org/officeDocument/2006/relationships/notesSlide" Target="/ppt/notesSlides/notesSlide4.xml" Id="R7c635a6458a144a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22d9c0f55d4237" /><Relationship Type="http://schemas.openxmlformats.org/officeDocument/2006/relationships/notesSlide" Target="/ppt/notesSlides/notesSlide5.xml" Id="R5fc75665c160485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3d59061d3741c9" /><Relationship Type="http://schemas.openxmlformats.org/officeDocument/2006/relationships/notesSlide" Target="/ppt/notesSlides/notesSlide6.xml" Id="R6587c910dfec4b8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c518abac02460e" /><Relationship Type="http://schemas.openxmlformats.org/officeDocument/2006/relationships/notesSlide" Target="/ppt/notesSlides/notesSlide7.xml" Id="R168f10a0336b474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cff21452364e12" /><Relationship Type="http://schemas.openxmlformats.org/officeDocument/2006/relationships/notesSlide" Target="/ppt/notesSlides/notesSlide8.xml" Id="Ra44bf3a3337f4ec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0fc84fb18c4e44" /><Relationship Type="http://schemas.openxmlformats.org/officeDocument/2006/relationships/notesSlide" Target="/ppt/notesSlides/notesSlide9.xml" Id="R0e2bb5270e9e458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93409f42b6437d" /><Relationship Type="http://schemas.openxmlformats.org/officeDocument/2006/relationships/notesSlide" Target="/ppt/notesSlides/notesSlide10.xml" Id="Rd49e2ebb454e4af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f5d245bbcf40ec" /><Relationship Type="http://schemas.openxmlformats.org/officeDocument/2006/relationships/notesSlide" Target="/ppt/notesSlides/notesSlide11.xml" Id="Ra13d4f7999d8416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5B7CFE6-D163-4887-AF4D-6B0C24E48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590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00000"/>
                </a:solidFill>
              </a:defRPr>
            </a:pPr>
            <a:r>
              <a:rPr sz="5400" b="1">
                <a:solidFill>
                  <a:srgbClr val="000000"/>
                </a:solidFill>
              </a:rPr>
              <a:t>LumenCore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4AB080-55E8-4E54-AF64-9D1EA1AAB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42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22222"/>
                </a:solidFill>
              </a:defRPr>
            </a:pPr>
            <a:r>
              <a:rPr sz="2250" b="0">
                <a:solidFill>
                  <a:srgbClr val="222222"/>
                </a:solidFill>
              </a:rPr>
              <a:t>Proof-to-pilot infrastructure for credible AI validation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510F57-0428-4DCE-BF36-DA14DF7EC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647700"/>
            <a:ext cx="35242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81714E-5E18-4CFD-91A6-2B2339B10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066800"/>
            <a:ext cx="2809875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Built for reviewers who need evidence they can inspect, not claims they have to decode.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F00A3F-E069-43B1-8951-F7A4C658D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43250"/>
            <a:ext cx="1047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011B15-FE3D-4907-BEE8-40EFFA8AD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29000"/>
            <a:ext cx="247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Send-safe pitch deck</a:t>
            </a:r>
          </a:p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July 9,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C288D3-E440-4F7E-A0D6-295EDA597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809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Current status: proof stack is reviewer-gated, human-controlled, and ready for a credibility sprint.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E6F9F1-543D-4FE2-BC83-5936970B9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Send-safe deck | July 9,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D194F7-59E0-493E-8E60-EF85ADDBB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389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0128244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70EC4D0-5C46-43C2-8458-535ED16F0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971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Reviewers cannot fund what they cannot verify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262A32-9C9C-45AD-BBFB-E0AAE6C1F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8110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The bottleneck is credibility, not imagination.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576AE2-AC7E-4AB4-8E50-F420F82E7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3E6F35-986E-45FF-A80A-CC65A0D9E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Send-safe deck | July 9,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011B7D-36DA-4F95-9967-B264E3AC4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389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16A610-FB35-48B5-9884-2249C5C24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19300"/>
            <a:ext cx="34099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47A134-21B3-4DCC-9C41-20A844696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2990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Claims move faster than evidence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C08E13-6059-4A8D-959C-9B3E9BE84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299085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Advanced AI and R&amp;D stories often arrive without source provenance, replayable results, or clear claim boundaries.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F3B922-AB9E-4D25-9E29-255088839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019300"/>
            <a:ext cx="34099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C9438A-5EB7-4EB8-A5A9-01D094645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190750"/>
            <a:ext cx="2990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Review work is scattered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B9F045-0E4A-4246-8FAE-A404DB640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628900"/>
            <a:ext cx="299085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A technical reviewer has to chase data, baselines, metrics, risks, portal status, and IP boundaries across too many files.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35B1E7-8AB1-4D14-A280-8CAA689B1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19300"/>
            <a:ext cx="34099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4A2B4D-5CBA-4F3A-BE4C-57A2A26BD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190750"/>
            <a:ext cx="2990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Terms can move too early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2D18F6-84B2-4ECC-B285-03D478518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628900"/>
            <a:ext cx="299085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Studios and investors may ask for equity before deliverables, cash burden, ownership, and validation milestones are written.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41C930-C004-4115-BD93-DD1262E62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828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Luma's job is to make the next serious decision easier, faster, and safer.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EE5388-246B-4B6E-BFAE-DAA01289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Send-safe deck | July 9, 2026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D7ED60-7B07-4EF9-B8EA-3D889635A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389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745177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CBF06CF-D312-48A7-91D7-CA72FDE9B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971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LumenCore turns technical claims into decision-ready proof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0A715B-538B-49CD-8BD1-968DAC350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8110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The product is the evidence system around complex R&amp;D.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2022DA-3B08-4150-96B3-55C27A0D4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6F204D-74BC-469C-9AFA-C7A24F349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Send-safe deck | July 9,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976473-E436-45E3-9255-4829A9B37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389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DE8855-5789-4A91-860B-12AC15545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38350"/>
            <a:ext cx="2571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EBCAAE-AF72-4876-BE0B-735903BC8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2152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Source validation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5E8459-4139-4EC5-B20C-81058E771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21526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Live-source registry, current measurement status, refresh gaps, and public-safe source boundaries.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A2EB40-49EA-4695-83F3-C3952E03A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038350"/>
            <a:ext cx="2571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7B3590-F076-4557-BF9A-47A59DC43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209800"/>
            <a:ext cx="2152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Replay receipts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9E4022-61C2-4008-B055-79BA639D3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647950"/>
            <a:ext cx="21526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Baseline-vs-candidate runs, holdout windows, metrics, failure slots, and SHA-256 receipts.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0A8BD0-90DE-4A80-9E31-AE69CC29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038350"/>
            <a:ext cx="2571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3F6827-57CE-412F-8DA0-5A5912924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09800"/>
            <a:ext cx="2152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Reviewer packets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6D6AE2-E8DB-44D6-8FF2-8EFF9D9AA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47950"/>
            <a:ext cx="21526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Decision brief, diligence Q&amp;A, commercialization path, agency protocol, and data-room manifest.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AE55B5-E10B-4E1E-BA92-6D50975FC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038350"/>
            <a:ext cx="2571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9824E2-D271-4353-A90D-35CC2646B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209800"/>
            <a:ext cx="2152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Human gates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5098A9-0AEF-4FFB-8306-DF20C5649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647950"/>
            <a:ext cx="21526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No sends, submissions, price commitments, equity acceptance, IP actions, or file sharing without approval.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852798-9E78-471A-A457-861F0E8BF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0540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The output is a cleaner yes, no, or next validation step.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8539BD-4C02-4877-AAE0-B340F337D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Send-safe deck | July 9, 2026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68DB52-AED9-4992-AB2A-3AD0F4DEB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389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091213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21196BF-9BEF-48D6-A32C-7464F71A4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971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The first product is a paid credibility sprint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13CE17-D2CC-4A6A-9C95-11D85DBCC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8110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A practical entry point before big dilution or broad promises.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D97745-3700-43E1-B2B2-B3EAF0475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230072-5D51-46FD-9D6A-E7C5CA36A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Send-safe deck | July 9,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3619BF-85DE-4A8F-B361-B3F0D421C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389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04E41A-9303-4010-B535-96E539BB2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38350"/>
            <a:ext cx="342900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D93BE0-4DFF-433F-A568-51B121869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3009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Reviewer proof sprint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6C8905-1306-403F-A330-E916B99E6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30099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5-10 business days</a:t>
            </a:r>
          </a:p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Proof-card index, source register, decision brief, reviewer Q&amp;A, and claim-boundary map.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430AC2-8F85-4392-B5D5-81BC09514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38350"/>
            <a:ext cx="342900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EAECB9-6F36-4DCC-92CC-9DBBA4867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09800"/>
            <a:ext cx="3009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Replay-scope package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3735FE-89A1-4081-BA0B-12FD9B2C6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647950"/>
            <a:ext cx="30099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10-20 business days</a:t>
            </a:r>
          </a:p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Baseline, metric, holdout window, data boundary, receipt schema, and dry-run report.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B5DAFA-4E0C-4F73-9267-DE98CB5FB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38350"/>
            <a:ext cx="342900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CAF80E-6D17-4A31-BCEA-99D61700E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09800"/>
            <a:ext cx="3009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Field-validation pilot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FB2D0C-6870-4187-8032-4C901297A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47950"/>
            <a:ext cx="30099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Sector owner supplies real loss context. Luma locks the baseline and shows whether the replay can reduce the loss.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30F03D-9185-4604-871F-7D1AB6E90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482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First money motion: paid proof or replay-scope sprint. Expansion: field validation pilots, agency submission support, and recurring proof portal access.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84F1A5-D330-436A-9C09-7BE6FBFA7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Send-safe deck | July 9, 2026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954532-4A3C-4F4D-A72B-F599E45C5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389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909838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29AFB3-7C4C-44E8-8D94-6C4CDA795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971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The proof stack is already measurable and gated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837607-926A-4598-8AC2-02C76269D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8110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Current packet evidence is stronger than a concept deck.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2A902C-AFB0-4584-8C4D-06D7DF991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2739C4-8842-439F-B2DB-35A6814ED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Send-safe deck | July 9,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EE39E5-C203-41DB-8AB9-6E1B3A733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389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CD0531-392F-4E93-8C9C-CD87D5BA4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1714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93365E-7CD6-499A-BF0A-37009AA88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1295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29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EB8F52-19F2-4558-A15F-2D8114894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1295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registry-enabled sources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95549D-54C0-4051-8C05-8D9BD5F2E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095500"/>
            <a:ext cx="1714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171B13-833C-4E65-A432-3A39582CE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305050"/>
            <a:ext cx="1295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25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07EE9D-C331-4DBE-8209-6FEED34E4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876550"/>
            <a:ext cx="1295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measured registry sources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D206B4-30B1-40E2-A977-905E4D1FB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095500"/>
            <a:ext cx="2095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BF6167-912A-4042-8E8F-D533C29B4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05050"/>
            <a:ext cx="1676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23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E62DA3-920C-41C5-842A-D3AB83D41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76550"/>
            <a:ext cx="1676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current hash-backed measured rows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B98366-F784-439B-82E3-8832318A1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95500"/>
            <a:ext cx="2000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2029DE-C31E-4DED-811D-49F6F21DF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05050"/>
            <a:ext cx="1581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35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759100-E3E5-41BE-838C-36F909487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76550"/>
            <a:ext cx="1581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reviewer Markdown artifacts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6FA037-6E42-4F54-B59B-DE580F7CF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095500"/>
            <a:ext cx="2000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E5FA70-379B-428A-B6B2-5D01D168D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05050"/>
            <a:ext cx="1581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34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78C377-68AF-4D29-A25A-E2A60C66C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76550"/>
            <a:ext cx="1581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machine control receipts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EB7217-B4AF-4894-84F1-2CE6448FB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86200"/>
            <a:ext cx="1714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260767-1293-436F-A51B-28CD6000B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1295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6B35"/>
                </a:solidFill>
              </a:defRPr>
            </a:pPr>
            <a:r>
              <a:rPr sz="3300" b="1">
                <a:solidFill>
                  <a:srgbClr val="FF6B35"/>
                </a:solidFill>
              </a:rPr>
              <a:t>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813BC5-7F24-4AAB-A9E7-CAA708273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1295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unsafe sensitive or claim hits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178D86-A29F-4140-940C-23E2AB128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886200"/>
            <a:ext cx="56769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A95DB4-A0F7-4B9D-9300-55320C9E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057650"/>
            <a:ext cx="5257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Why this matters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C3A2C0-4772-41BD-8551-277143454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495800"/>
            <a:ext cx="5257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The deck is backed by a data-room manifest, reviewer gate, commercialization packet, and venture-studio terms guardrail. It is not just narrative.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568CC6-4B0C-49AB-8A66-FE0D37736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886200"/>
            <a:ext cx="3524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2B10624-4BB3-4EB8-AA6F-2F514E075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057650"/>
            <a:ext cx="3105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Boundary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C5E4F93-46F3-492F-87E6-BD9E111A0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495800"/>
            <a:ext cx="3105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These are proof-stack readiness metrics. They are not agency approval, investment, field validation, realized savings, or accepted terms.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36F6CA4-77F5-4838-97A1-2088F4D41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971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55555"/>
                </a:solidFill>
              </a:defRPr>
            </a:pPr>
            <a:r>
              <a:rPr sz="825" b="0">
                <a:solidFill>
                  <a:srgbClr val="555555"/>
                </a:solidFill>
              </a:rPr>
              <a:t>Source: LumenCore funding sprint data-room manifest and measured-source register generated July 9, 2026.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0F5D964-ED23-4D99-BBAF-8AA67BA93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Send-safe deck | July 9, 2026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A589362-AF9E-4599-A9C1-2AA2CD59F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389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09198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F719D74-6A7C-4398-ADFF-FC830A213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971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The first customer is the technical decision-maker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109C0A-197A-49F4-A21E-094BEF208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8110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The buyer is the person who must trust evidence before funding or piloting.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3C4859-AB69-49D0-93C7-1E5DDCC74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24C7C3-4A16-47F8-B93B-73B4AD733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Send-safe deck | July 9,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98DEE0-8AC4-483A-AB63-E78A3445E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389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F9FD61-9C97-4397-9594-EC47C816C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38350"/>
            <a:ext cx="3429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08C938-232B-4B8D-A4B1-C944AF5E7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3009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Agency or SBIR reviewer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422D6A-EC6A-4AE7-AC48-52CFAAB70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30099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Needs official-source fit, source-backed proof, and human authority gates before submission or routing.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1F319C-40B8-49CF-9435-AAF9A0E96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38350"/>
            <a:ext cx="3429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25B3D6-C386-4A2F-8788-11319AE65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09800"/>
            <a:ext cx="3009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Validation owner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EF0851-9971-4FBB-9D04-C26190078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647950"/>
            <a:ext cx="30099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Needs a repeatable receipt: data boundary, baseline, metric, holdout window, and replay path.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BD5C19-11E6-44A6-BD65-FA838C518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38350"/>
            <a:ext cx="3429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E5868B-35EE-4DCB-9682-716E20220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09800"/>
            <a:ext cx="3009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Venture builder or investor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F96A36-9C33-4D4C-8F25-6094E6D31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47950"/>
            <a:ext cx="30099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Needs a clean business model, first paid offer, diligence room, and no unsupported claims.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459DD6-3014-49EE-A5A6-94621BBC9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29150"/>
            <a:ext cx="113919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2642C4-543D-4B41-A166-71ECE9491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19650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Customer definition: serious reviewers who need inspectable proof before they spend money, issue invitations, or sponsor pilots.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E60694-1A0D-4E58-B71D-C26903425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Send-safe deck | July 9, 2026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289968-C25F-438F-8220-41A60389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389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31371325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7C70742-DF6D-4C70-A213-0BE157CD3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971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Agent workspaces prove the market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E41116-EE83-4942-8D1E-83456E8CA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8110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Luma's wedge is validation, credibility, and proof-to-pilot packaging.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748AC8-7DAF-4797-8A8C-B00A39C94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0F1997-B7A9-4443-80F8-A3EDDD6DB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Send-safe deck | July 9,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AD50E9-CED1-4CAA-A4F4-FDBB10C62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389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7E38BD-F13C-4C1E-8390-66015E105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38350"/>
            <a:ext cx="3429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BD22A6-A0C2-4276-B46A-648C13483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3009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Genspark signal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A4B0EC-9B2C-466A-868C-D816F75CB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30099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General AI workspaces are training buyers to expect agents that create useful business outputs, not only chat responses.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CCAF48-A35F-4B45-A32A-D3F08B4CA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38350"/>
            <a:ext cx="3429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492C97-D03C-4FF4-9ADD-DD8A09EBF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09800"/>
            <a:ext cx="3009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Luma wedge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6B3361-1AF1-40FA-BF7D-23551DAAE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647950"/>
            <a:ext cx="30099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Luma focuses on proof-to-pilot work: evidence, replay receipts, source validation, reviewer packets, and funding readiness.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BAD20D-FD5A-4145-BF93-E369068BC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38350"/>
            <a:ext cx="3429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85EFFF-8A70-4DB2-BDCB-BB0E6AC68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09800"/>
            <a:ext cx="3009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YC benchmark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20132C-F52E-495F-91F2-3A18239D2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47950"/>
            <a:ext cx="30099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YC is a dilution and credibility benchmark. Any studio asking 20% must justify value beyond cash, brand, network, and speed.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C464E1-B0D0-40D6-95EC-1A1C11726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971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55555"/>
                </a:solidFill>
              </a:defRPr>
            </a:pPr>
            <a:r>
              <a:rPr sz="825" b="0">
                <a:solidFill>
                  <a:srgbClr val="555555"/>
                </a:solidFill>
              </a:rPr>
              <a:t>Sources: genspark.ai, genspark.ai/business, openai.com/index/genspark, ycombinator.com/deal, ycombinator.com/apply.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3555A4-8286-490F-9668-C36977A70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Send-safe deck | July 9, 2026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88B201-5423-440B-9E27-B09703023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389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33022284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F7D9321-3D5C-471F-89E3-1CE5C0E01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971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Funding path combines non-dilutive and venture routes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B5F71E-F812-4521-9BDE-9CF5A55BB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8110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The near-term plan is traction, not a single all-or-nothing bet.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3CB015-26C0-4898-AAC7-1E21A5A23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26FA37-C1A2-427C-BBF5-B540AF96D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Send-safe deck | July 9,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9AF051-6001-4FE2-900B-6BC6585C2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389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AA5C45-1CFF-4F86-BCA5-A4FF1A7BC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38350"/>
            <a:ext cx="2095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EEA0E1-2F33-46BF-B1AF-1997E1331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676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942B00-875F-458B-BB1E-931F8AB7A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1676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tracked opportunity lanes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C325DA-BDF6-4423-B907-CC9EF0997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038350"/>
            <a:ext cx="2095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CF6320-4C5C-44F1-8491-E6B894A76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247900"/>
            <a:ext cx="1676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C7E1D6-E20A-44F0-B416-6D32E6440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819400"/>
            <a:ext cx="1676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top-ready lanes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3E4DFC-FA82-47E1-BBBB-002FE0B40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038350"/>
            <a:ext cx="2095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8B2143-CAC0-4640-9FD2-F3C9EEA8A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247900"/>
            <a:ext cx="1676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6B35"/>
                </a:solidFill>
              </a:defRPr>
            </a:pPr>
            <a:r>
              <a:rPr sz="3300" b="1">
                <a:solidFill>
                  <a:srgbClr val="FF6B35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2B44C7-D90E-4671-B0BE-50F0BB95B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819400"/>
            <a:ext cx="1676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urgent lanes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7DBEE7-D80F-4E68-BA97-67A7F09D8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38350"/>
            <a:ext cx="38671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D3E796-0CDA-4465-9DA8-FCAA53CD6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209800"/>
            <a:ext cx="3448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Non-dilutive lanes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8E40F5-FC07-4ED1-899C-DE1FA0BED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647950"/>
            <a:ext cx="3448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DARPA DICE, SBIR/STTR, NASA RFI, FHWA TSMO, and other official-source opportunities stay human-gated.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FC73C0-D740-4BCD-A1CD-B93FCDB8A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657600"/>
            <a:ext cx="38671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2E1C7F-3EFA-4F1C-A8A1-50AAE776D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829050"/>
            <a:ext cx="3448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Venture lanes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FB7FB4-FF16-4D75-B366-A45B666B0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67200"/>
            <a:ext cx="3448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EVTit, soft-tech venture studios, YC, angels, and strategic partners are evaluated against dilution, cash burden, and deliverables.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E9A24B-7D04-4FF4-B32D-6814E0902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816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Decision rule: use the path that creates the most credibility per dollar and per point of dilution.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BD5B61-31D6-46E3-8B50-556E2DCB5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Send-safe deck | July 9, 2026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37736F-A703-4190-97E5-AD6578DBE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389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1176170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1F951AB-2EF6-4181-99FC-C4963F05B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971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The money case comes from field validation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22C9FD-4D5D-4071-A07E-09554AB48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8110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Luma needs sectors with real losses, not more abstract applause.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400CF2-4EF2-4115-BF82-2366D0A8B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43C872-8288-4D18-96A1-B31C83A9D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Send-safe deck | July 9,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536206-1F88-48FE-97B2-D77D1CAC5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389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DBF46B-C816-48BC-A74B-2622533B6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38350"/>
            <a:ext cx="352425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6125FC-2C1F-433C-A8C2-F7BAD089D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3105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Locked internal baseline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02DAED-CEA3-4BF4-A538-4D0FA2B00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31051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The current proof stack can compare candidate behavior against named baselines and preserve replay receipts.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811248-05BF-4C94-A5BE-05ACB4EDB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38350"/>
            <a:ext cx="352425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0F1C0F-EA9B-490C-A499-220B4422F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209800"/>
            <a:ext cx="3105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Real sector loss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067F8D-9913-4350-A651-0FB560FF3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647950"/>
            <a:ext cx="31051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The next customer supplies the operating context: wasted energy, delayed response, failed routing, downtime, audit cost, or missed throughput.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F0F3BA-8A50-4E1F-8D6D-E9FE68413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38350"/>
            <a:ext cx="352425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A57131-8ADD-4713-903B-323EE60DD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09800"/>
            <a:ext cx="3105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Economic proof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09861E-94CF-472F-9D0B-5DB2B7CA9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47950"/>
            <a:ext cx="31051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A pilot locks the metric and conversion factor so savings can be shown conservatively after field validation.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9E9EA5-F424-46F5-9332-64ABD37AA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6730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This is why grants and SBIR matter: they fund validation without forcing the company to oversell before the field data is in.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A8488A-37EC-4382-B43D-67A32CA63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Send-safe deck | July 9, 2026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38AB33-51AA-4874-B9E5-BC5465C17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389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1686749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44626A-4E49-4925-BF52-BE3396F9D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971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A studio deal must earn the dilution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23405D-DE35-4F12-87B9-294B6333E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8110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The 20% discussion is worth exploring, not accepting verbally.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0EBD21-3866-41B3-9578-3B5607AB3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AED7E8-7216-456B-8D86-D5EC3874F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Send-safe deck | July 9,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328F4C-612A-49DC-BEA7-57D9AD686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389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44A25D-98CE-42FD-930D-1E176124B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38350"/>
            <a:ext cx="35242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E44427-FBD2-4B0F-9A88-04D484D17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3105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What must be written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0263CF-730D-469F-882C-9D2D261BF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31051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Scope, deliverables, acceptance criteria, timeline, cash budget, IP ownership, vesting, termination, and conflicts.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A3767E-D5FA-4FF6-9BD3-D9556C49D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38350"/>
            <a:ext cx="35242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652160-BB97-4FF8-B3B7-C423E2A47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209800"/>
            <a:ext cx="3105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What must be proven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4981D4-1E0C-4DA1-A5F3-81349653D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647950"/>
            <a:ext cx="31051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The studio should increase credibility through product packaging, validation workflow, customer access, funding support, and diligence readiness.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39D0DD-5ACD-4EFC-8A1F-63921FCBC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38350"/>
            <a:ext cx="35242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42E880-19FD-4325-93D9-E811FABB2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09800"/>
            <a:ext cx="3105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Safer structures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6E70E1-71B5-454C-B3D2-FD980DCC4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47950"/>
            <a:ext cx="31051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Paid credibility sprint, milestone equity option, smaller equity plus success fee, or YC-parallel process before accepting major dilution.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710124-AB00-4521-9CBE-13E79A5B7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05400"/>
            <a:ext cx="981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Current posture: interested, not committed. Equity, cash, and IP terms require written review and counsel.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CBD824-63BF-4B18-9CB6-6F65BAD8F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Send-safe deck | July 9, 2026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51D5BC-6FE9-4E54-A473-6000B46E1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389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06070496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0BCBAA6-111A-4CA1-BE6E-E90FD3DBE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971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The ask is a 30-day credibility sprint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5A5FA9-7B2B-4731-9FE3-C269635B6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8110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Make Luma easier to fund, review, and pilot.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5DFD6C-35C6-4E0A-9828-74FFE70D7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A961E8-8AFC-44C8-8F23-E94A4C0E5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Send-safe deck | July 9,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AF365F-C88D-431C-9CA4-A82A44918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389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71E391-962A-4255-B8B3-588A83B39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38350"/>
            <a:ext cx="34290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EBEDF4-2B4F-401E-96B1-233963243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3009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Build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3A1052-3DE1-4479-8184-5B5965413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30099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Send-safe pitch deck, reviewer portal front door, measured-source view, and proof-card navigation.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28AB01-2BAC-4DEF-BFEE-CB44FF18E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38350"/>
            <a:ext cx="34290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BC7CF9-7AF7-409B-8811-38FFB2E7E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09800"/>
            <a:ext cx="3009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Validate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4608C0-43BB-4F86-93E7-FA32F5A70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647950"/>
            <a:ext cx="30099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Replay-scope template, baseline/metric lock, pilot intake flow, and acceptance-standard checklist.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0DBFD2-2A5F-4B0E-95AD-B203CBA99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38350"/>
            <a:ext cx="34290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8BA502-C1BA-4C52-99A2-F2E3BB6F3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09800"/>
            <a:ext cx="3009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Package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2AD98D-190C-4E88-8667-1128FF126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47950"/>
            <a:ext cx="30099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Investor narrative, grant/SBIR packet refresh, terms guardrails, and partner diligence room.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7E1194-15D0-4FFB-95F7-4ECE6C87D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113919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EFC6DC-1D0C-4D86-8B39-11CC885C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5300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Next step: agree on written sprint scope, deliverables, budget, and decision rights before any equity or terms commitment.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2DB782-D73D-4513-A7FF-2678D2AB0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Send-safe deck | July 9, 2026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886AF4-C338-42A1-A05A-797563C2D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389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5619886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2026-07-09T20:36:24.0620000Z</dcterms:created>
  <dcterms:modified xsi:type="dcterms:W3CDTF">2026-07-09T20:36:24.0620000Z</dcterms:modified>
</coreProperties>
</file>