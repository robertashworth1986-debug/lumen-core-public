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abbed52a0c4653" /><Relationship Type="http://schemas.openxmlformats.org/officeDocument/2006/relationships/extended-properties" Target="/docProps/app.xml" Id="Rd36cbd5a4a824d65" /><Relationship Type="http://schemas.openxmlformats.org/officeDocument/2006/relationships/officeDocument" Target="/ppt/presentation.xml" Id="R728128735467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7955125a94838"/>
  </p:sldMasterIdLst>
  <p:notesMasterIdLst>
    <p:notesMasterId xmlns:r="http://schemas.openxmlformats.org/officeDocument/2006/relationships" r:id="R31afac6b72fd4125"/>
  </p:notesMasterIdLst>
  <p:sldIdLst>
    <p:sldId xmlns:r="http://schemas.openxmlformats.org/officeDocument/2006/relationships" id="256" r:id="Rad10acb14e4c421b"/>
    <p:sldId xmlns:r="http://schemas.openxmlformats.org/officeDocument/2006/relationships" id="257" r:id="R8a1bc82c416b4e5c"/>
    <p:sldId xmlns:r="http://schemas.openxmlformats.org/officeDocument/2006/relationships" id="258" r:id="R14ee4342c0184cb1"/>
    <p:sldId xmlns:r="http://schemas.openxmlformats.org/officeDocument/2006/relationships" id="259" r:id="R8061da64954e4d42"/>
    <p:sldId xmlns:r="http://schemas.openxmlformats.org/officeDocument/2006/relationships" id="260" r:id="Rb6e577cdfedc4e65"/>
    <p:sldId xmlns:r="http://schemas.openxmlformats.org/officeDocument/2006/relationships" id="261" r:id="R0151f4d8fb244827"/>
    <p:sldId xmlns:r="http://schemas.openxmlformats.org/officeDocument/2006/relationships" id="262" r:id="R8fd988a5fc9b462f"/>
    <p:sldId xmlns:r="http://schemas.openxmlformats.org/officeDocument/2006/relationships" id="263" r:id="R52b08b12f29f4c0a"/>
    <p:sldId xmlns:r="http://schemas.openxmlformats.org/officeDocument/2006/relationships" id="264" r:id="Ra3a9d3a7c768448c"/>
    <p:sldId xmlns:r="http://schemas.openxmlformats.org/officeDocument/2006/relationships" id="265" r:id="Rab78273a87884d30"/>
    <p:sldId xmlns:r="http://schemas.openxmlformats.org/officeDocument/2006/relationships" id="266" r:id="R5acba6d06f4943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2c9cb64fc403f" /><Relationship Type="http://schemas.openxmlformats.org/officeDocument/2006/relationships/slideMaster" Target="/ppt/slideMasters/slideMaster1.xml" Id="R7d97955125a94838" /><Relationship Type="http://schemas.openxmlformats.org/officeDocument/2006/relationships/notesMaster" Target="/ppt/notesMasters/notesMaster1.xml" Id="R31afac6b72fd4125" /><Relationship Type="http://schemas.openxmlformats.org/officeDocument/2006/relationships/presProps" Target="/ppt/presProps.xml" Id="R4e13ff1159d94229" /><Relationship Type="http://schemas.openxmlformats.org/officeDocument/2006/relationships/tableStyles" Target="/ppt/tableStyles.xml" Id="R6cf649a8843f4cfd" /><Relationship Type="http://schemas.openxmlformats.org/officeDocument/2006/relationships/slide" Target="/ppt/slides/slide1.xml" Id="Rad10acb14e4c421b" /><Relationship Type="http://schemas.openxmlformats.org/officeDocument/2006/relationships/slide" Target="/ppt/slides/slide2.xml" Id="R8a1bc82c416b4e5c" /><Relationship Type="http://schemas.openxmlformats.org/officeDocument/2006/relationships/slide" Target="/ppt/slides/slide3.xml" Id="R14ee4342c0184cb1" /><Relationship Type="http://schemas.openxmlformats.org/officeDocument/2006/relationships/slide" Target="/ppt/slides/slide4.xml" Id="R8061da64954e4d42" /><Relationship Type="http://schemas.openxmlformats.org/officeDocument/2006/relationships/slide" Target="/ppt/slides/slide5.xml" Id="Rb6e577cdfedc4e65" /><Relationship Type="http://schemas.openxmlformats.org/officeDocument/2006/relationships/slide" Target="/ppt/slides/slide6.xml" Id="R0151f4d8fb244827" /><Relationship Type="http://schemas.openxmlformats.org/officeDocument/2006/relationships/slide" Target="/ppt/slides/slide7.xml" Id="R8fd988a5fc9b462f" /><Relationship Type="http://schemas.openxmlformats.org/officeDocument/2006/relationships/slide" Target="/ppt/slides/slide8.xml" Id="R52b08b12f29f4c0a" /><Relationship Type="http://schemas.openxmlformats.org/officeDocument/2006/relationships/slide" Target="/ppt/slides/slide9.xml" Id="Ra3a9d3a7c768448c" /><Relationship Type="http://schemas.openxmlformats.org/officeDocument/2006/relationships/slide" Target="/ppt/slides/slide10.xml" Id="Rab78273a87884d30" /><Relationship Type="http://schemas.openxmlformats.org/officeDocument/2006/relationships/slide" Target="/ppt/slides/slide11.xml" Id="R5acba6d06f49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3ce55b47c34c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cd9c7baef453b" /><Relationship Type="http://schemas.openxmlformats.org/officeDocument/2006/relationships/notesMaster" Target="/ppt/notesMasters/notesMaster1.xml" Id="R14b5e07583b644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25ed88456499d" /><Relationship Type="http://schemas.openxmlformats.org/officeDocument/2006/relationships/notesMaster" Target="/ppt/notesMasters/notesMaster1.xml" Id="R84f5fa9d5fbc42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691675ed6342e1" /><Relationship Type="http://schemas.openxmlformats.org/officeDocument/2006/relationships/notesMaster" Target="/ppt/notesMasters/notesMaster1.xml" Id="Rcd5ab1ade44c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4404258af47e1" /><Relationship Type="http://schemas.openxmlformats.org/officeDocument/2006/relationships/notesMaster" Target="/ppt/notesMasters/notesMaster1.xml" Id="Rc115892a40444d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03246035af4b60" /><Relationship Type="http://schemas.openxmlformats.org/officeDocument/2006/relationships/notesMaster" Target="/ppt/notesMasters/notesMaster1.xml" Id="Rab34e76002104a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b5353188a04776" /><Relationship Type="http://schemas.openxmlformats.org/officeDocument/2006/relationships/notesMaster" Target="/ppt/notesMasters/notesMaster1.xml" Id="Rf492e713855045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aa74bb89dc422f" /><Relationship Type="http://schemas.openxmlformats.org/officeDocument/2006/relationships/notesMaster" Target="/ppt/notesMasters/notesMaster1.xml" Id="Rffb0af04d3294c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05bf18c6cb4bb0" /><Relationship Type="http://schemas.openxmlformats.org/officeDocument/2006/relationships/notesMaster" Target="/ppt/notesMasters/notesMaster1.xml" Id="R8f20fa6547d44e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911d0f2be42a7" /><Relationship Type="http://schemas.openxmlformats.org/officeDocument/2006/relationships/notesMaster" Target="/ppt/notesMasters/notesMaster1.xml" Id="Rd2939ef4899a4e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638d4a7f5a4331" /><Relationship Type="http://schemas.openxmlformats.org/officeDocument/2006/relationships/notesMaster" Target="/ppt/notesMasters/notesMaster1.xml" Id="Ra4ca3a96121147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9f8db0ed1b43f4" /><Relationship Type="http://schemas.openxmlformats.org/officeDocument/2006/relationships/notesMaster" Target="/ppt/notesMasters/notesMaster1.xml" Id="Rc2cc6fc1b3c3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0e49440cc4c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94b0f4831a45ce" /><Relationship Type="http://schemas.openxmlformats.org/officeDocument/2006/relationships/slideLayout" Target="/ppt/slideLayouts/slideLayout1.xml" Id="R050adf58015a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0adf58015a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ecf544edb4011" /><Relationship Type="http://schemas.openxmlformats.org/officeDocument/2006/relationships/image" Target="/ppt/media/image.png" Id="Rc39ec726a93c4bf2" /><Relationship Type="http://schemas.openxmlformats.org/officeDocument/2006/relationships/notesSlide" Target="/ppt/notesSlides/notesSlide1.xml" Id="R808d2ac763c347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52ea0970b46c6" /><Relationship Type="http://schemas.openxmlformats.org/officeDocument/2006/relationships/notesSlide" Target="/ppt/notesSlides/notesSlide2.xml" Id="R76b1d41c3b6a41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b1d7447dc40a0" /><Relationship Type="http://schemas.openxmlformats.org/officeDocument/2006/relationships/notesSlide" Target="/ppt/notesSlides/notesSlide3.xml" Id="Rcced636f91a9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266f4ee3b44b9" /><Relationship Type="http://schemas.openxmlformats.org/officeDocument/2006/relationships/notesSlide" Target="/ppt/notesSlides/notesSlide4.xml" Id="Rf06720e49d5849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349436eb24c07" /><Relationship Type="http://schemas.openxmlformats.org/officeDocument/2006/relationships/notesSlide" Target="/ppt/notesSlides/notesSlide5.xml" Id="R665470f1bb4c46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935b76304a58" /><Relationship Type="http://schemas.openxmlformats.org/officeDocument/2006/relationships/notesSlide" Target="/ppt/notesSlides/notesSlide6.xml" Id="R9a498c75c01f4d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816b8eef94b18" /><Relationship Type="http://schemas.openxmlformats.org/officeDocument/2006/relationships/notesSlide" Target="/ppt/notesSlides/notesSlide7.xml" Id="Rdf2c1db7962f4f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77bfee7214a95" /><Relationship Type="http://schemas.openxmlformats.org/officeDocument/2006/relationships/notesSlide" Target="/ppt/notesSlides/notesSlide8.xml" Id="Rc72a1f34792949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d6aedfecd41b0" /><Relationship Type="http://schemas.openxmlformats.org/officeDocument/2006/relationships/chart" Target="/ppt/slides/charts/chart1.xml" Id="R9a5ca9e13a044345" /><Relationship Type="http://schemas.openxmlformats.org/officeDocument/2006/relationships/notesSlide" Target="/ppt/notesSlides/notesSlide9.xml" Id="R44beea4674e144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f7c01c68494f" /><Relationship Type="http://schemas.openxmlformats.org/officeDocument/2006/relationships/notesSlide" Target="/ppt/notesSlides/notesSlide10.xml" Id="R1a78ed51cfbe4e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10060a7e149d4" /><Relationship Type="http://schemas.openxmlformats.org/officeDocument/2006/relationships/notesSlide" Target="/ppt/notesSlides/notesSlide11.xml" Id="Rdfe1e1f9fb12400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0A7F7A"/>
            </a:solidFill>
          </c:spPr>
          <c:cat>
            <c:strLit>
              <c:ptCount val="5"/>
              <c:pt idx="0">
                <c:v>Y1</c:v>
              </c:pt>
              <c:pt idx="1">
                <c:v>Y2</c:v>
              </c:pt>
              <c:pt idx="2">
                <c:v>Y3</c:v>
              </c:pt>
              <c:pt idx="3">
                <c:v>Y4</c:v>
              </c:pt>
              <c:pt idx="4">
                <c:v>Y5</c:v>
              </c:pt>
            </c:strLit>
          </c:cat>
          <c:val>
            <c:numLit>
              <c:formatCode>General</c:formatCode>
              <c:ptCount val="5"/>
              <c:pt idx="0">
                <c:v>65</c:v>
              </c:pt>
              <c:pt idx="1">
                <c:v>255</c:v>
              </c:pt>
              <c:pt idx="2">
                <c:v>570</c:v>
              </c:pt>
              <c:pt idx="3">
                <c:v>1010</c:v>
              </c:pt>
              <c:pt idx="4">
                <c:v>1540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1D5D91"/>
            </a:solidFill>
          </c:spPr>
          <c:invertIfNegative val="0"/>
          <c:cat>
            <c:strLit>
              <c:ptCount val="5"/>
              <c:pt idx="0">
                <c:v>Y1</c:v>
              </c:pt>
              <c:pt idx="1">
                <c:v>Y2</c:v>
              </c:pt>
              <c:pt idx="2">
                <c:v>Y3</c:v>
              </c:pt>
              <c:pt idx="3">
                <c:v>Y4</c:v>
              </c:pt>
              <c:pt idx="4">
                <c:v>Y5</c:v>
              </c:pt>
            </c:strLit>
          </c:cat>
          <c:val>
            <c:numLit>
              <c:formatCode>General</c:formatCode>
              <c:ptCount val="5"/>
              <c:pt idx="0">
                <c:v>-86.5</c:v>
              </c:pt>
              <c:pt idx="1">
                <c:v>-8.5</c:v>
              </c:pt>
              <c:pt idx="2">
                <c:v>123</c:v>
              </c:pt>
              <c:pt idx="3">
                <c:v>330</c:v>
              </c:pt>
              <c:pt idx="4">
                <c:v>588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0"/>
          <c:min val="-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4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0B0D0F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F2042-1941-4401-8939-13D16BF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5697-FF34-46CA-8C8E-191BAB9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991D-EDAD-4BF8-8F1B-7DE6289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Proof-to-pilot AI validation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energy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72FF-BF9B-49AE-AF0A-3D8FEE5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D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DB"/>
                </a:solidFill>
                <a:latin typeface="Aptos"/>
                <a:ea typeface="Aptos"/>
                <a:cs typeface="Aptos"/>
              </a:rPr>
              <a:t>Turn a promising model into a decision a serious buyer can audit, reproduce, and price.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F3AA-C951-4D54-8D9F-B07FEED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B7453-5336-470B-9C47-63D99EC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WORKING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E093D-EB3D-41FC-BBDB-4CB43F1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0">
            <a:solidFill>
              <a:srgbClr val="F6E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6CBD-85D7-42D5-B892-3265C598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EXTERNAL VALIDATION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11AA-54FF-4913-8BA3-C1E053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Robert Ashworth | Founder</a:t>
            </a:r>
          </a:p>
          <a:p xmlns:a="http://schemas.openxmlformats.org/drawingml/2006/main">
            <a:pPr algn="l"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Launch Tennessee 3686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C983-5C75-4B47-A720-4A3CABE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"/>
            <a:ext cx="584835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20272C"/>
          </a:solidFill>
          <a:ln xmlns:a="http://schemas.openxmlformats.org/drawingml/2006/main" w="9525">
            <a:solidFill>
              <a:srgbClr val="3A454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ec726a93c4bf2"/>
          <a:srcRect xmlns:a="http://schemas.openxmlformats.org/drawingml/2006/main" l="10988" t="0" r="109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42950"/>
            <a:ext cx="5543550" cy="49339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B93E0-30B4-45D1-B3CB-EDDE5F4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544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Product proof room | local reviewer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A077-A356-4E6D-932C-F31E280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1B83D-09F3-47D0-9A3C-6C2C420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367409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955D6-FE0A-4A80-9BA0-1590725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C56F-F3A9-4C55-A1EC-60985FC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AI scores arrive faster than buyer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11C1-948A-427E-86A0-E3E18C9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1E634-4194-4A5C-B4A3-A089752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FFFE-E580-4B9F-91AE-103E5E2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 high-consequence operations, the buyer is not purchasing a score. The buyer is purchasing a defensible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ADB0-38E9-48D1-B80A-1F8A65C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strong model can still fail procurement when the evidence trail cannot answer four basic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C219-09E4-4B49-9905-81C7B5B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7298-5796-44EA-A3BD-8C0785F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EF2D0-198E-49CC-AF06-B344D65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 identity</a:t>
            </a:r>
          </a:p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allowed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C451-927F-4F55-85FA-0C1BFBD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D9C5-335A-45E0-B33F-76A47DA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C2041-5246-4440-89EA-AF5B494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 and</a:t>
            </a:r>
          </a:p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metric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A255-B303-494F-B6B1-688E5FD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5186-5822-4855-BF47-2BD5BEA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03CD-E9FD-4D5A-86B3-64ACE4F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Negative results</a:t>
            </a:r>
          </a:p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42E30-5491-4192-9A80-DE8E7A3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95111-7703-4800-BEA5-22F6134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4F1C-9963-4EA8-9897-57F6ED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Receipt, owner,</a:t>
            </a:r>
          </a:p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C5B5B-125F-445F-BA0C-300501C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49339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B8428-1A34-4428-9B44-BCE27F5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444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444"/>
                </a:solidFill>
                <a:latin typeface="Aptos"/>
                <a:ea typeface="Aptos"/>
                <a:cs typeface="Aptos"/>
              </a:rPr>
              <a:t>WHAT BREAKS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DD64A-427F-48CE-84A4-7EEC9272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60C91-789C-49FB-BB23-C004781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Data leakage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D408B-6689-4B99-967F-251C1D6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Future information contaminates the 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4190A-E328-4BD7-AEB3-BF1D36E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DC4C-F5C9-4356-AF4A-41F495D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Moving goalposts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64AE4-FAC5-4CE3-89A6-9F5A7F2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Baselines or metrics change after results appear.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93E08-1993-4ACD-A903-C529159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E1485-6287-4D88-A589-5175276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Hidden negatives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E9EC4-B0C0-4E65-9611-60F3A64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Only favorable runs survive into the deck.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49084-68AB-4EFF-8C57-175B28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5FCD1-DB77-4557-A83F-D55F4DD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No custody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5AE65-B7EB-4626-A0D6-C07686E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artifact cannot be tied to code, data, or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51E11-B409-4D47-9FB8-5E48AD9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B3306-E945-456C-B941-C871B08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709079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1E07B-F747-4C84-80C6-C24C807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97F9-5734-4380-8807-CFC4BCA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One bounded workflow from claim to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8F84-403A-4604-B304-5C8B894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AF16-44F3-4498-8CA5-897EBE5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9A95-0F33-4CAE-ACD2-2934106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makes the evidence path explicit before it makes the claim louder.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0B7B-1F41-4D47-9865-A9E6FAD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9C3CB-7F3B-4FBC-A408-D69467C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EAF3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7833-2050-4FB9-9CE0-91906CF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19050">
            <a:solidFill>
              <a:srgbClr val="B8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014D-AEF7-4708-8A10-21E0B66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864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9978C-98E2-48D1-A112-FA2386E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BB15-1EB9-4D89-AE34-80B5021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BBBF1-49A4-4C47-9E60-D4CA531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Dataset, baseline, metric,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343A-E961-4DD6-AF46-ECFB772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5E74F-D47C-4BDD-AAB1-9A35C863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F8981-E9C7-4510-8BB4-F5335A6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Past-only execution with held-out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548CA-BC69-4F07-AEE8-C7A1547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925C4-7139-4FDD-8EDA-2D903DC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BB873-656A-40DF-AD21-86EA482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Uncertainty, abstention, and negative-result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FD78-6368-41FA-870E-D799707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99FFC-2BE6-4FB3-81A9-6279876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A028E-6E4E-49B0-B6E3-FA5981A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Hash, custody record, owner, and pilot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F1E04-5DD1-4A14-8A39-6A0E5A8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E8E17-EF8D-4178-9BBE-08504A3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BEFORE EXTERNAL 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183AA-CC3A-4A3D-BC7A-5BA3F48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Output: a buyer-readable packet that can be reproduced, challenged, and converted into a scoped field pilot.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0B0BB-5347-424A-A9A9-8BF09BA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571CC-56E0-4E6B-B973-34016D9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75224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9C592-A3F9-449D-B8BC-F82BCD2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6B01-6154-438A-8170-8CCF12B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Start where one bad decision is expensive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2453-74D9-48BD-B0D6-3FC8206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B3FA6-0BF4-4C89-9CD0-A24D875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3B81-FE30-4C22-A429-ECAEC23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Initial wedge: organizations with costly reliability, planning, or forecasting errors and an existing baseline they already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5F02-7133-4B45-908B-A7DAA69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1B7F-5CC4-4492-A2F5-A91F5B9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UTILITY /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C5DD-F31A-4BFB-BD3A-50E482BC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7F27-810D-456D-989B-A5C99BC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Analytics or operations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80AFE-DF5E-4892-8F81-9AB0BF4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FFF37-1F83-4391-8F2A-62379B5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planning or forecasting model cannot clear internal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6D904-99F8-4F59-B10C-F72647C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0339-461A-453D-BA60-7C817DB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Decision receipt + replay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04008-057C-42F7-AF6A-31BB319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708-DD8F-4A21-B5BC-142652F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LAB / 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01901-B2E5-43CC-B80B-5628ED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BA466-D314-45B0-92F0-BFCF829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Program or technical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60566-EB95-44C1-8F4B-15B92B4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97F6-1049-438C-A8C2-AF0237F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research result needs a reproducible route to a field partner.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54ECE-13CF-469F-85F8-BE3EC992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9A051-0520-45A9-90A3-34AD44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Reviewer packet + validation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54C18-97E6-484D-B696-D78B7B4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F35D4-71DE-4BC0-B41B-B293B23E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INDUSTRIAL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2BFEA-2A32-4B95-8E8A-AF94D9F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65D35-88DB-4C66-AAC6-36C273A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Reliability or asset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B20BC-D37E-4C07-993C-05255A9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71650-F5AC-4E8F-A9C0-218243C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failure-risk signal needs proof against the incumbent rule or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F9E67-3CAA-44CE-A91F-0BECED2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C630E-9537-4B4C-AC6D-A980AE7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Scoped pilot + economic acceptance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88437-1DCE-4CEB-AF9C-C2D2DA5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2CB11-F4FA-4D41-BB43-26A08DF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07794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MVP is real; the next value gate is external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 IN CURRENT 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Working review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Canonical review cards and evidence artifacts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Claim gates separate outreach from field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packets and custody records are 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Negative-result and abstention states remain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What this supports today: a bounded buyer conversation and a reproducible pilot design.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REQUIRES OUTSIDE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Field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Buyer-controlled data and accepted incumbent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Independent reproduction by a named third party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Measured operational or economic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Reference customer, contract, or production deployment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claim in this deck crosses this boundary. The application asks for the introductions and discipline needed to cross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7485F-7B7B-4430-81DF-DC86D07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946D-05D8-4D9C-8855-CDBB47B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Sell the proof path before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9E773-C846-4A55-B3C0-7C79B6B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1FF1-CF96-42A7-A6AD-2F27820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884-DAB4-4BCC-BF05-75712A6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Three offers create a low-friction entry, a paid validation event, and a repeatable expansion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9D70-F2A1-4E02-81FC-E40C999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6983-A844-4C8D-A5BA-3D244C8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1. EVIDENCE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142C-FAAF-49DD-AA4A-AA062B5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$5k-$10k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318FE-542C-4BDF-8615-2167698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Planning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32AD-588D-4015-AB77-8AABA25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Scope the decision, lock the incumbent baseline, and produce a reviewer-ready evidence packet.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A4A-72BD-4525-A035-AC51530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Technical 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2689-6DB3-4C6C-B4C6-ED7E563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1E1B-D92F-4021-AA38-4AF3324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2. CONTROLLED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F69D-E83A-44AD-B420-48EA45D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$20k-$50k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07B8-E310-4831-AD87-9A6825D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Planning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C23F-6CAA-4611-A414-FB332A7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Replay on buyer-controlled data, measure against a preregistered acceptance gate, and issue a receipt.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44D9D-D0FC-4E5E-AD59-C53ED37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Design 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C9D84-D3DD-42E7-83F0-B87F236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A6A31-ECB2-426F-BA93-50AEB17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3. PLATFORM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8124D-7B8F-4357-B80E-622BE32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$60k-$150k / yr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AB53B-80F1-4F97-89E7-3942300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Planning 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92AF7-98FD-4FDD-8E6B-E52E296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Automate repeatable reviews, evidence custody, governance, support, and approved operating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21C1E-609A-4FF9-B1EC-30133E8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Program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82DC7-37F5-45D4-B0D1-41EF20E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All pricing is a founder-review assumption. No paid pilot, customer commitment, or contract is claimed.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45A18-749B-463B-A61E-16D1E77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2B0B6-F006-4C14-88FF-061EEC9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817884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158CB-4299-43A2-A07E-1D7662E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6ACB3-36CD-4D51-9380-644D7E2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Positioned between model tooling and audit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C30B-8226-4E17-8919-9CE6765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60CA-CF96-4AE2-AB79-4285943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DF04-F849-4692-943F-B0B26D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wedge is not another model leaderboard. It is an evidence operating layer for decisions that must survive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377B-47C6-4E8F-9CC8-827FA7A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17E9F-C3AA-42AF-A734-8A8089F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A8ED-E364-48EB-B3AF-729A676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F42D5-DA03-4554-B13E-AC6BF5B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F3EE8-1682-4892-996C-9AD7419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LOW AUDITABILITY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6BE6-07AC-4AA1-B210-A3038B1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HIGH AUDITABILITY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286A1-2BA9-426B-881A-E467D3F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5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REPEATABLE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455B-0067-456E-8E81-56907D4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BESPOKE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A7D4-0CA3-445B-87A7-BCD3519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DEE6-FCE6-47C1-8586-701AED4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386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AD HOC</a:t>
            </a:r>
          </a:p>
          <a:p xmlns:a="http://schemas.openxmlformats.org/drawingml/2006/main">
            <a:pPr algn="l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B0BD1-5800-4DF9-9031-663E3AB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CAE38-15C5-4460-93FE-D077F94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GENERIC</a:t>
            </a:r>
          </a:p>
          <a:p xmlns:a="http://schemas.openxmlformats.org/drawingml/2006/main">
            <a:pPr algn="l"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C944C-3791-4285-BBB8-2728E3C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45ED6-4FC2-4835-874C-FEFFAD7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48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CONSULTING /</a:t>
            </a:r>
          </a:p>
          <a:p xmlns:a="http://schemas.openxmlformats.org/drawingml/2006/main">
            <a:pPr algn="l"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AUDIT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F8E08-3803-4F60-A38E-8BCB4F37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80D23-5577-48A9-BB01-E4AB4B9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LUMENCORE</a:t>
            </a:r>
          </a:p>
          <a:p xmlns:a="http://schemas.openxmlformats.org/drawingml/2006/main">
            <a:pPr algn="l"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TARGET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3BF53-F49B-41DA-B99C-73CD12AE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552700" cy="29718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0AD7-BC80-465A-B0F1-A56ACE9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DISTINCTIVE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46843-8B5B-48F7-92DF-4077A0A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019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baseline and metric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Visible negatives and abstention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custody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 release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0D44-8CB1-4862-B364-D251FF3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29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Positioning hypothesis; not a market-share or superiority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79862-78F2-42D8-9FD8-C4535FF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F0175-1F8F-42F3-8555-526F319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56409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DE500-5E34-4BE8-BBBD-DCD2CB5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4644-C96A-44F8-B1CF-77454F5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 one hard problem, prove it, then expand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8433A-BC97-48FE-BE25-B114720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E93D4-194A-491A-9486-8C335CEE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342A-9FE1-4C7E-B8A6-3D18A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near-term objective is one serious design partner with controlled data and an accepted incumbent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1D9B-60CF-4C28-9C91-8B94F33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1082-9A06-43B3-8A55-2B2AF8A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913C-40C9-4907-8AB4-F7D3208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4FC8-5DA2-4C17-A479-630FCE2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4336-CC85-47FE-A07E-8A1C092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E9910-0DC3-4671-B7A4-B7F9263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Confirm the owner, decision, data rights, baseline, cost of error, and approval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62AB-9B9C-4A91-B760-784E408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Gate: written problem +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1D67-FF2E-41E2-A401-1DCBB7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F612-D348-4299-8B34-AB37FD7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6A5DA-DC23-4C8A-B5DD-EED5991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Run a preregistered replay on buyer-controlled data and preserve every favorable and unfavorable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CAAB-D8DA-4196-B4AA-F5A918E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Gate: accepted evidence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51075-8E4C-4CEE-A624-90AD412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497C8-6B72-4717-838C-9438AA1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BDE7-5B41-4200-84E6-FB16869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Convert the accepted pilot into repeatable workflows, annual support, and adjacent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67083-A157-4B68-A0A8-924CA17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Gate: paid renewal or license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5B64-68FE-4C62-B30A-E0227C2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FDBDE-31F6-4F27-A5AE-3ADFA7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90-DAY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83099-25CD-4F84-9ED2-26C5D36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10 qualified conversations  |  3 controlled-data design sessions  |  1 paid or independently reproduced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C0727-2887-46DB-8D08-FE0EC29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226E1-7A0E-453D-87F2-52E337BD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988580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DBFEE-B493-4355-B529-51E67D6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FINANCIAL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80556-1C5A-40FB-94BE-2DD430D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 service-led path to repeatable software 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A7D0F-083A-4C77-B474-7680F74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4DB1-9A43-43D3-A73E-0956DA4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EB685-EDA2-4B1D-87C0-3BDC2782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Base-case planning model ($000s)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33400" y="2133600"/>
          <a:ext xmlns:a="http://schemas.openxmlformats.org/drawingml/2006/main" cx="73152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5ca9e13a04434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A150F-B0AB-432F-B57A-A9140662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F0A3F-E287-4928-8B7D-D8FBFF17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BASE-CASE MILESTONES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E1E5A-D058-4586-9F0B-9D429D6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6735-6D4B-4927-AE8E-0991B17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$65k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ABDC8-A401-4FB2-8EA8-BCA8D8E0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Year 1 planning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9C1BE-79D3-4BBA-B8B4-D8401B3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C850B-8C0F-473B-9402-7FF38BED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~75%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F2164-9C67-44D1-ACA5-FCFFADE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Modeled gross margin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C683F-4AD9-44EE-BD96-207AD783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24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39081-DAB1-497F-BDFD-D86FA678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76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91810-BEE0-4609-AD65-881A802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Modeled positive EBITDA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D5C81-5AC7-4ADB-934E-7CE72F0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Assumptions, not commitments. Full pricing, COGS, staffing, cash flow, and checks are in the attached workbook.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CE479-04A5-464E-A94B-503E847A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4D0E9-7ADA-4C5B-95F1-49E7D456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208767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B720F-1620-4337-9AEC-7E0DA9C0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CAPITAL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EAE03-A0D2-40B2-80BF-D9A0511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Fund the validation bridge, not a vanity scale-up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17B2F-632D-4969-861C-2A64096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A31B4-EB72-4086-A41A-DE055294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5CD8C-A765-44F3-A172-99C5417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$250k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822AE-DC1C-4B3A-9D0B-3EF8206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Illustrative external funding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EE120-CC73-457B-8B38-DBC3235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Purpose: reach a buyer-controlled, independently reviewable pilot and a repeatable commercial package.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34BC7-FA53-42CA-B2A7-D12D1644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247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3368C-EE47-4786-9172-F1E39976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FOUNDER APPROVAL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9FD05-EFFD-4BB2-AB3D-CABAAB04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This is not committed, awarded, or currently raised.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A1EE1-E4DB-4D5D-8998-414B8C12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64198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48CBD-7C22-451E-A0E6-1215EF90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ILLUSTRATIVE USE OF FUNDS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741C6-C3A5-4846-9FBA-F3055C0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717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B2CE0-E3A2-4427-99FD-28A81B8D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Validation + 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AF12F-D0B4-4F20-AEEE-5FA907D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$100k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9A73D-6EB2-4227-AC54-3AE0C5D8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62275"/>
            <a:ext cx="493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93BDD-3530-46F8-8D1D-53F69256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0D2B3-0A4C-42A7-9195-97B6513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Customer pilots + integration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B3A89-9A01-4B2B-903F-17054540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57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$62.5k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3762E-2F98-4FFC-91D9-F677796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48075"/>
            <a:ext cx="30837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D8E45-1230-4C95-A768-96A35C8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43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0B5D6-7EF2-4E88-81F6-BBD4C42F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Commercialization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CB599-DCB2-4F2E-BD60-3355884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43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$50k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BA4E7-AC0E-4EF6-A4FB-9159910B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2466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39173-AD4F-4D71-BD4B-833AA31F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5DBD3-BC24-4954-8587-C221BCD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Legal, insurance + 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BA36F-1BCF-49D0-A1FC-8F274366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629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$37.5k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3EE2A-4CAB-40A6-A0C8-FA2A9A1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9675"/>
            <a:ext cx="1850231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CC6D1-5738-4D96-834D-1DF7DAF8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054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Milestone: accepted evidence receipt from a controlled-data design partner, followed by a paid expansion decision.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92602-D376-403A-9ACD-60AD0635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65955-557E-4DFE-96E6-3136E8F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926663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64548-999C-481B-996D-EF2E3D2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7B07-C377-4BBC-8EFD-1A71AD2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DF36F-8BFB-4CC4-8698-C019263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Help us earn the first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proof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1358-9C60-4661-B346-335FC5E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34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1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1D6"/>
                </a:solidFill>
                <a:latin typeface="Aptos"/>
                <a:ea typeface="Aptos"/>
                <a:cs typeface="Aptos"/>
              </a:rPr>
              <a:t>LumenCore is ready for the next disciplined step: one buyer, one accepted baseline, one controlled dataset, and one result that another party can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80BF2-F987-4288-920F-A4F4956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9150"/>
            <a:ext cx="3981450" cy="457200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1E23"/>
          </a:solidFill>
          <a:ln xmlns:a="http://schemas.openxmlformats.org/drawingml/2006/main" w="9525">
            <a:solidFill>
              <a:srgbClr val="3B47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164F-9E19-4D54-99FD-7261DE6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WHAT WE NEED FROM LAUNCHTN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6148-5208-46F7-B7D3-E19DB85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32E76-83A2-43F5-B3CA-B1F64DF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introductions in energy and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3E3A-3450-4185-B37C-31EFD15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645D-6031-4D5D-90A4-1E496A3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F8E1-29A4-4942-9B22-D1ED496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Pricing and pilot-scope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CD89-38B0-4869-9106-7A2CC37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0E294-B623-4418-8A95-A3C6276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FE8B6-8FEC-40F1-BFFB-2E678CB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coaching grounded in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4D9A0-1EBD-48F2-8667-0E8D28F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0BB4-47FD-4F38-8A58-92B2B0B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121B4-D110-490A-A24B-9C42E04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3686 exposure to serious design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C354F-1621-41AA-AEF7-DF92EB8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Robert Ashworth | Founder, LumenCore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89F57-9E98-40B1-B374-3F9AB4A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Working MVP. Honest boundaries. External validation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16BB2-3E3A-4012-90A9-00DD964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3686 PITCH APPLICATION | 2026-07-17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DB31E-2BAD-4DB9-82EE-17788C29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538964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2026-07-17T09:06:23.8610000Z</dcterms:created>
  <dcterms:modified xsi:type="dcterms:W3CDTF">2026-07-17T09:06:23.8610000Z</dcterms:modified>
</coreProperties>
</file>