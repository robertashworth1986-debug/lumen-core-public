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e32b37a97e4a77" /><Relationship Type="http://schemas.openxmlformats.org/officeDocument/2006/relationships/extended-properties" Target="/docProps/app.xml" Id="R69d0b5d7185f4843" /><Relationship Type="http://schemas.openxmlformats.org/officeDocument/2006/relationships/officeDocument" Target="/ppt/presentation.xml" Id="R19992ba876eb45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b2decde57d4c35"/>
  </p:sldMasterIdLst>
  <p:notesMasterIdLst>
    <p:notesMasterId xmlns:r="http://schemas.openxmlformats.org/officeDocument/2006/relationships" r:id="Rbb17da1407454b87"/>
  </p:notesMasterIdLst>
  <p:sldIdLst>
    <p:sldId xmlns:r="http://schemas.openxmlformats.org/officeDocument/2006/relationships" id="256" r:id="Rb6f19d4df46346bb"/>
    <p:sldId xmlns:r="http://schemas.openxmlformats.org/officeDocument/2006/relationships" id="257" r:id="R739daba102124e3b"/>
    <p:sldId xmlns:r="http://schemas.openxmlformats.org/officeDocument/2006/relationships" id="258" r:id="R61b5e490f2e04ab3"/>
    <p:sldId xmlns:r="http://schemas.openxmlformats.org/officeDocument/2006/relationships" id="259" r:id="Rc4efc585377446ed"/>
    <p:sldId xmlns:r="http://schemas.openxmlformats.org/officeDocument/2006/relationships" id="260" r:id="Ra24207e988cd450c"/>
    <p:sldId xmlns:r="http://schemas.openxmlformats.org/officeDocument/2006/relationships" id="261" r:id="Rd0bd6c9b4067498d"/>
    <p:sldId xmlns:r="http://schemas.openxmlformats.org/officeDocument/2006/relationships" id="262" r:id="R182ebbd3fc7e489e"/>
    <p:sldId xmlns:r="http://schemas.openxmlformats.org/officeDocument/2006/relationships" id="263" r:id="R816e4cb5e9704732"/>
    <p:sldId xmlns:r="http://schemas.openxmlformats.org/officeDocument/2006/relationships" id="264" r:id="R350f7ce6b1e8473f"/>
    <p:sldId xmlns:r="http://schemas.openxmlformats.org/officeDocument/2006/relationships" id="265" r:id="R3ab05a7312fe48a9"/>
    <p:sldId xmlns:r="http://schemas.openxmlformats.org/officeDocument/2006/relationships" id="266" r:id="Rc4345a5493ff4b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11b3c840f41d6" /><Relationship Type="http://schemas.openxmlformats.org/officeDocument/2006/relationships/slideMaster" Target="/ppt/slideMasters/slideMaster1.xml" Id="Rb2b2decde57d4c35" /><Relationship Type="http://schemas.openxmlformats.org/officeDocument/2006/relationships/notesMaster" Target="/ppt/notesMasters/notesMaster1.xml" Id="Rbb17da1407454b87" /><Relationship Type="http://schemas.openxmlformats.org/officeDocument/2006/relationships/presProps" Target="/ppt/presProps.xml" Id="R4fdca99e22ad495f" /><Relationship Type="http://schemas.openxmlformats.org/officeDocument/2006/relationships/tableStyles" Target="/ppt/tableStyles.xml" Id="Ra0dcd60173054516" /><Relationship Type="http://schemas.openxmlformats.org/officeDocument/2006/relationships/slide" Target="/ppt/slides/slide1.xml" Id="Rb6f19d4df46346bb" /><Relationship Type="http://schemas.openxmlformats.org/officeDocument/2006/relationships/slide" Target="/ppt/slides/slide2.xml" Id="R739daba102124e3b" /><Relationship Type="http://schemas.openxmlformats.org/officeDocument/2006/relationships/slide" Target="/ppt/slides/slide3.xml" Id="R61b5e490f2e04ab3" /><Relationship Type="http://schemas.openxmlformats.org/officeDocument/2006/relationships/slide" Target="/ppt/slides/slide4.xml" Id="Rc4efc585377446ed" /><Relationship Type="http://schemas.openxmlformats.org/officeDocument/2006/relationships/slide" Target="/ppt/slides/slide5.xml" Id="Ra24207e988cd450c" /><Relationship Type="http://schemas.openxmlformats.org/officeDocument/2006/relationships/slide" Target="/ppt/slides/slide6.xml" Id="Rd0bd6c9b4067498d" /><Relationship Type="http://schemas.openxmlformats.org/officeDocument/2006/relationships/slide" Target="/ppt/slides/slide7.xml" Id="R182ebbd3fc7e489e" /><Relationship Type="http://schemas.openxmlformats.org/officeDocument/2006/relationships/slide" Target="/ppt/slides/slide8.xml" Id="R816e4cb5e9704732" /><Relationship Type="http://schemas.openxmlformats.org/officeDocument/2006/relationships/slide" Target="/ppt/slides/slide9.xml" Id="R350f7ce6b1e8473f" /><Relationship Type="http://schemas.openxmlformats.org/officeDocument/2006/relationships/slide" Target="/ppt/slides/slide10.xml" Id="R3ab05a7312fe48a9" /><Relationship Type="http://schemas.openxmlformats.org/officeDocument/2006/relationships/slide" Target="/ppt/slides/slide11.xml" Id="Rc4345a5493ff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f938d157d04e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d3ca1c527549f2" /><Relationship Type="http://schemas.openxmlformats.org/officeDocument/2006/relationships/notesMaster" Target="/ppt/notesMasters/notesMaster1.xml" Id="R0db9b850c3e343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0ffe962465449a" /><Relationship Type="http://schemas.openxmlformats.org/officeDocument/2006/relationships/notesMaster" Target="/ppt/notesMasters/notesMaster1.xml" Id="R300f4a1e52ea4e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d7564e85174497" /><Relationship Type="http://schemas.openxmlformats.org/officeDocument/2006/relationships/notesMaster" Target="/ppt/notesMasters/notesMaster1.xml" Id="R6518a0682c794d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04c83c580f402b" /><Relationship Type="http://schemas.openxmlformats.org/officeDocument/2006/relationships/notesMaster" Target="/ppt/notesMasters/notesMaster1.xml" Id="R07def521041d4e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8ce6cd970841e7" /><Relationship Type="http://schemas.openxmlformats.org/officeDocument/2006/relationships/notesMaster" Target="/ppt/notesMasters/notesMaster1.xml" Id="R05b5afdeea6f4c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e90b779ea84bd3" /><Relationship Type="http://schemas.openxmlformats.org/officeDocument/2006/relationships/notesMaster" Target="/ppt/notesMasters/notesMaster1.xml" Id="R58162a8366c74c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977aa3e5084fc3" /><Relationship Type="http://schemas.openxmlformats.org/officeDocument/2006/relationships/notesMaster" Target="/ppt/notesMasters/notesMaster1.xml" Id="R81c888ff978948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7a134ed6ce4812" /><Relationship Type="http://schemas.openxmlformats.org/officeDocument/2006/relationships/notesMaster" Target="/ppt/notesMasters/notesMaster1.xml" Id="R982edda4f65147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2e67fcff43425c" /><Relationship Type="http://schemas.openxmlformats.org/officeDocument/2006/relationships/notesMaster" Target="/ppt/notesMasters/notesMaster1.xml" Id="R5d29e07979df49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45183c170b4aa2" /><Relationship Type="http://schemas.openxmlformats.org/officeDocument/2006/relationships/notesMaster" Target="/ppt/notesMasters/notesMaster1.xml" Id="Rc79d351d7ad24f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4ccbe36ec647c1" /><Relationship Type="http://schemas.openxmlformats.org/officeDocument/2006/relationships/notesMaster" Target="/ppt/notesMasters/notesMaster1.xml" Id="Rd8bbb65881ad49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[LaunchTN 3686 review controls]</a:t>
            </a:r>
          </a:p>
          <a:p xmlns:a="http://schemas.openxmlformats.org/drawingml/2006/main">
            <a:r>
              <a:t>- Local: grant_submissions/LAUNCHTN_3686_PITCH_2026/LAUNCHTN_3686_APPLICATION_MANIFEST_2026-07-29.json</a:t>
            </a:r>
          </a:p>
          <a:p xmlns:a="http://schemas.openxmlformats.org/drawingml/2006/main">
            <a:r>
              <a:t>- Prize and deadline facts are bound to the current application manifest.</a:t>
            </a:r>
          </a:p>
          <a:p xmlns:a="http://schemas.openxmlformats.org/drawingml/2006/main">
            <a:r>
              <a:t>- Legal entity, Tennessee eligibility, financing, upload, attestation, and submission remain founder-gated.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c428741a2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3a6ef14e8a46c8" /><Relationship Type="http://schemas.openxmlformats.org/officeDocument/2006/relationships/slideLayout" Target="/ppt/slideLayouts/slideLayout1.xml" Id="Re7fe3735ba144b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fe3735ba144b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7e3a93d6142b5" /><Relationship Type="http://schemas.openxmlformats.org/officeDocument/2006/relationships/image" Target="/ppt/media/image.png" Id="R5cad275e6116418f" /><Relationship Type="http://schemas.openxmlformats.org/officeDocument/2006/relationships/notesSlide" Target="/ppt/notesSlides/notesSlide1.xml" Id="R10db653e373a40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2701af3df4ed8" /><Relationship Type="http://schemas.openxmlformats.org/officeDocument/2006/relationships/notesSlide" Target="/ppt/notesSlides/notesSlide2.xml" Id="R8dbab69ffe5b4b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c1252ad574586" /><Relationship Type="http://schemas.openxmlformats.org/officeDocument/2006/relationships/notesSlide" Target="/ppt/notesSlides/notesSlide3.xml" Id="R8354d1d49733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ac2f704274dd4" /><Relationship Type="http://schemas.openxmlformats.org/officeDocument/2006/relationships/notesSlide" Target="/ppt/notesSlides/notesSlide4.xml" Id="Rb9a3ac1961be46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d9b02192f4c28" /><Relationship Type="http://schemas.openxmlformats.org/officeDocument/2006/relationships/notesSlide" Target="/ppt/notesSlides/notesSlide5.xml" Id="R07725e6752ec49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7c2aa855e4520" /><Relationship Type="http://schemas.openxmlformats.org/officeDocument/2006/relationships/notesSlide" Target="/ppt/notesSlides/notesSlide6.xml" Id="Ra9ca454bac294f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6ffe4de0e41a4" /><Relationship Type="http://schemas.openxmlformats.org/officeDocument/2006/relationships/notesSlide" Target="/ppt/notesSlides/notesSlide7.xml" Id="Rcd9f71a6e94d44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4fe233e46400b" /><Relationship Type="http://schemas.openxmlformats.org/officeDocument/2006/relationships/notesSlide" Target="/ppt/notesSlides/notesSlide8.xml" Id="R0813765b52e04e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dd9f23e4a40fd" /><Relationship Type="http://schemas.openxmlformats.org/officeDocument/2006/relationships/notesSlide" Target="/ppt/notesSlides/notesSlide9.xml" Id="Rfd2db91de3e241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68161a29d4f2b" /><Relationship Type="http://schemas.openxmlformats.org/officeDocument/2006/relationships/notesSlide" Target="/ppt/notesSlides/notesSlide10.xml" Id="Rc67cbc3ca5b348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b99c6c57a4570" /><Relationship Type="http://schemas.openxmlformats.org/officeDocument/2006/relationships/notesSlide" Target="/ppt/notesSlides/notesSlide11.xml" Id="R60533fea2a6245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F2042-1941-4401-8939-13D16BF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C5697-FF34-46CA-8C8E-191BAB9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LUMENCORE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991D-EDAD-4BF8-8F1B-7DE6289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Evidence-to-pilot infrastructure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decisions buyers can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72FF-BF9B-49AE-AF0A-3D8FEE5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D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DB"/>
                </a:solidFill>
                <a:latin typeface="Aptos"/>
                <a:ea typeface="Aptos"/>
                <a:cs typeface="Aptos"/>
              </a:rPr>
              <a:t>Turn candidate methods into reproducible decision packets before field, savings, or performance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F3AA-C951-4D54-8D9F-B07FEED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B7453-5336-470B-9C47-63D99ECB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PITCH REVIEW COPY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E093D-EB3D-41FC-BBDB-4CB43F1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0">
            <a:solidFill>
              <a:srgbClr val="F6E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36CBD-85D7-42D5-B892-3265C598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$10K PRIZE PLAN GATED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B11AA-54FF-4913-8BA3-C1E053D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Robert Ashworth | Founder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Launch Tennessee 3686 |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C983-5C75-4B47-A720-4A3CABE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"/>
            <a:ext cx="5848350" cy="523875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20272C"/>
          </a:solidFill>
          <a:ln xmlns:a="http://schemas.openxmlformats.org/drawingml/2006/main" w="9525">
            <a:solidFill>
              <a:srgbClr val="3A454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d275e611641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742950"/>
            <a:ext cx="5543550" cy="49339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B93E0-30B4-45D1-B3CB-EDDE5F4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05500"/>
            <a:ext cx="544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Local proof room snapshot | 2026-07-29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3A077-A356-4E6D-932C-F31E280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1B83D-09F3-47D0-9A3C-6C2C420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367409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955D6-FE0A-4A80-9BA0-1590725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C56F-F3A9-4C55-A1EC-60985FC8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Evidence fails before models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11C1-948A-427E-86A0-E3E18C9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1E634-4194-4A5C-B4A3-A089752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4FFFE-E580-4B9F-91AE-103E5E2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 high-consequence operations, a buyer is not purchasing a score. The buyer is purchasing a defensible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AADB0-38E9-48D1-B80A-1F8A65C5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strong result can still fail review when the evidence trail cannot answer four basic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C219-09E4-4B49-9905-81C7B5B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77298-5796-44EA-A3BD-8C0785F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EF2D0-198E-49CC-AF06-B344D65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 identity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allowed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1C451-927F-4F55-85FA-0C1BFBD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8D9C5-335A-45E0-B33F-76A47DA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C2041-5246-4440-89EA-AF5B494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 and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metric 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7A255-B303-494F-B6B1-688E5FD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5186-5822-4855-BF47-2BD5BEA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003CD-E9FD-4D5A-86B3-64ACE4F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Negative results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uncertainty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42E30-5491-4192-9A80-DE8E7A3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95111-7703-4800-BEA5-22F61345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24F1C-9963-4EA8-9897-57F6ED2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Receipt, owner,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next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C5B5B-125F-445F-BA0C-300501C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49339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B8428-1A34-4428-9B44-BCE27F5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444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4444"/>
                </a:solidFill>
                <a:latin typeface="Aptos"/>
                <a:ea typeface="Aptos"/>
                <a:cs typeface="Aptos"/>
              </a:rPr>
              <a:t>WHAT BREAKS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DD64A-427F-48CE-84A4-7EEC9272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60C91-789C-49FB-BB23-C0047819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Data leakage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D408B-6689-4B99-967F-251C1D6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Future information contaminates the test.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4190A-E328-4BD7-AEB3-BF1D36E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1DC4C-F5C9-4356-AF4A-41F495D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Moving goalposts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64AE4-FAC5-4CE3-89A6-9F5A7F2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Baselines or metrics change after results appear.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93E08-1993-4ACD-A903-C529159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E1485-6287-4D88-A589-5175276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Hidden negatives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E9EC4-B0C0-4E65-9611-60F3A64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Only favorable runs survive into the deck.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49084-68AB-4EFF-8C57-175B28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5FCD1-DB77-4557-A83F-D55F4DDD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No custody trail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5AE65-B7EB-4626-A0D6-C07686E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artifact cannot be tied to code, data, or 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51E11-B409-4D47-9FB8-5E48AD9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B3306-E945-456C-B941-C871B08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709079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51E07B-F747-4C84-80C6-C24C807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997F9-5734-4380-8807-CFC4BCA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One bounded workflow from claim to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8F84-403A-4604-B304-5C8B894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1AF16-44F3-4498-8CA5-897EBE5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F9A95-0F33-4CAE-ACD2-2934106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makes the evidence path explicit before any claim is promoted.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40B7B-1F41-4D47-9865-A9E6FADF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9C3CB-7F3B-4FBC-A408-D69467C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FEAF3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E7833-2050-4FB9-9CE0-91906CF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19050">
            <a:solidFill>
              <a:srgbClr val="B87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5014D-AEF7-4708-8A10-21E0B66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1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864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9978C-98E2-48D1-A112-FA2386E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0BB15-1EB9-4D89-AE34-80B5021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FREEZE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BBBF1-49A4-4C47-9E60-D4CA5312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Dataset, baseline, metric,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1343A-E961-4DD6-AF46-ECFB772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5E74F-D47C-4BDD-AAB1-9A35C863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F8981-E9C7-4510-8BB4-F5335A6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Past-only execution with held-out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548CA-BC69-4F07-AEE8-C7A1547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925C4-7139-4FDD-8EDA-2D903DC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BB873-656A-40DF-AD21-86EA482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Uncertainty, abstention, and negative-result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8FD78-6368-41FA-870E-D799707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99FFC-2BE6-4FB3-81A9-6279876E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A028E-6E4E-49B0-B6E3-FA5981A3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Hash, custody record, owner, and pilot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F1E04-5DD1-4A14-8A39-6A0E5A8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E8E17-EF8D-4178-9BBE-08504A3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APPROVAL BEFORE EXTERNAL 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183AA-CC3A-4A3D-BC7A-5BA3F48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959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Output: a reviewer-readable packet that can be reproduced, challenged, and used to decide whether a scoped pilot is warranted.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0B0BB-5347-424A-A9A9-8BF09BA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571CC-56E0-4E6B-B973-34016D94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752247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9C592-A3F9-449D-B8BC-F82BCD2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D6B01-6154-438A-8170-8CCF12BD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Start where one bad decision is expensive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32453-74D9-48BD-B0D6-3FC8206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B3FA6-0BF4-4C89-9CD0-A24D875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3B81-FE30-4C22-A429-ECAEC23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Target hypothesis: organizations with costly reliability, planning, or forecasting errors and an incumbent baseline they already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E5F02-7133-4B45-908B-A7DAA69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81B7F-5CC4-4492-A2F5-A91F5B9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UTILITY /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5C5DD-F31A-4BFB-BD3A-50E482BC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87F27-810D-456D-989B-A5C99BC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Analytics or operations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80AFE-DF5E-4892-8F81-9AB0BF4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FFF37-1F83-4391-8F2A-62379B5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planning or forecasting model cannot clear internal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6D904-99F8-4F59-B10C-F72647C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00339-461A-453D-BA60-7C817DB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Decision receipt + replay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04008-057C-42F7-AF6A-31BB319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FA708-DD8F-4A21-B5BC-142652F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LAB / AGENCY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01901-B2E5-43CC-B80B-5628ED2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BA466-D314-45B0-92F0-BFCF829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Program or technical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60566-EB95-44C1-8F4B-15B92B4A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97F6-1049-438C-A8C2-AF0237F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research result needs a reproducible route to a field partner.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54ECE-13CF-469F-85F8-BE3EC992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9A051-0520-45A9-90A3-34AD44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Reviewer packet + validation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54C18-97E6-484D-B696-D78B7B4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F35D4-71DE-4BC0-B41B-B293B23E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INDUSTRIAL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2BFEA-2A32-4B95-8E8A-AF94D9F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65D35-88DB-4C66-AAC6-36C273A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Reliability or asset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B20BC-D37E-4C07-993C-05255A9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71650-F5AC-4E8F-A9C0-218243C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failure-risk signal needs proof against the incumbent rule or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F9E67-3CAA-44CE-A91F-0BECED2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C630E-9537-4B4C-AC6D-A980AE7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Scoped pilot + accepted evidence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88437-1DCE-4CEB-AF9C-C2D2DA5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2CB11-F4FA-4D41-BB43-26A08DF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077944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EVIDENCE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Current evidence is measurable, including the negative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SOURCE-NATIVE LEDGER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Retrospective benchmark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140 registered families; 35 implementations 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126 direct comparisons across 23 candidate-source 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0 global Holm-positive 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0 promoted champions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Supports bounded software, custody, and protocol review. No alpha, superiority, savings, or field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FROZEN PROSPECTIVE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Future-only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Eight source-native baselines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Sixteen one-sided Holm contrasts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520 future daily sessions or 60 monthly releases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Zero eligible future observations today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Protocol LUMENCORE_TS_SOURCE_NATIVE_20260729_V1 is frozen and waiting for new source rows.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7485F-7B7B-4430-81DF-DC86D07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7946D-05D8-4D9C-8855-CDBB47B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Commercial path begins with an accepted evidence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9E773-C846-4A55-B3C0-7C79B6B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E1FF1-CF96-42A7-A6AD-2F27820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2884-DAB4-4BCC-BF05-75712A6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Three offers create a bounded entry, a controlled validation event, and a post-pilot expansion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C9D70-F2A1-4E02-81FC-E40C999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6983-A844-4C8D-A5BA-3D244C8A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1. EVIDENCE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7142C-FAAF-49DD-AA4A-AA062B52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SCOPED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318FE-542C-4BDF-8615-21676980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Price unquoted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32AD-588D-4015-AB77-8AABA25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Define the decision, lock the incumbent baseline, and produce a reviewer-ready evidence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A4A-72BD-4525-A035-AC515308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Technical sponsor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22689-6DB3-4C6C-B4C6-ED7E563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1E1B-D92F-4021-AA38-4AF3324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2. CONTROLLED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F69D-E83A-44AD-B420-48EA45D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GATED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707B8-E310-4831-AD87-9A6825D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Buyer-defined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9C23F-6CAA-4611-A414-FB332A7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Replay buyer-controlled data against a written acceptance gate and issue an auditable receipt.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44D9D-D0FC-4E5E-AD59-C53ED37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Design partner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C9D84-D3DD-42E7-83F0-B87F236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A6A31-ECB2-426F-BA93-50AEB17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3. PROGRAM LICENSE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8124D-7B8F-4357-B80E-622BE32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POST-PILOT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AB53B-80F1-4F97-89E7-3942300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After accepted receipt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92AF7-98FD-4FDD-8E6B-E52E296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Automate repeatable reviews, evidence custody, governance, support, and approved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21C1E-609A-4FF9-B1EC-30133E8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Program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82DC7-37F5-45D4-B0D1-41EF20EE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pricing, paid customer, savings, or contract is claimed. Scope and price require founder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45A18-749B-463B-A61E-16D1E77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2B0B6-F006-4C14-88FF-061EEC9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817884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158CB-4299-43A2-A07E-1D7662E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COMPETITIVE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6ACB3-36CD-4D51-9380-644D7E2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Positioned between model tooling and audit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C30B-8226-4E17-8919-9CE6765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860CA-CF96-4AE2-AB79-4285943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CDF04-F849-4692-943F-B0B26DB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wedge is not another model leaderboard. It is an evidence operating layer for decisions that must survive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5377B-47C6-4E8F-9CC8-827FA7A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17E9F-C3AA-42AF-A734-8A8089F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3A8ED-E364-48EB-B3AF-729A676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F42D5-DA03-4554-B13E-AC6BF5B4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F3EE8-1682-4892-996C-9AD7419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LOW AUDITABILITY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46BE6-07AC-4AA1-B210-A3038B1E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HIGH AUDITABILITY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286A1-2BA9-426B-881A-E467D3F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05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REPEATABLE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E455B-0067-456E-8E81-56907D4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91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BESPOKE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7A7D4-0CA3-445B-87A7-BCD3519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0DEE6-FCE6-47C1-8586-701AED4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386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AD HOC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B0BD1-5800-4DF9-9031-663E3AB1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CAE38-15C5-4460-93FE-D077F94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GENERIC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MLOPS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C944C-3791-4285-BBB8-2728E3C1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45ED6-4FC2-4835-874C-FEFFAD7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448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CONSULTING /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AUDIT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F8E08-3803-4F60-A38E-8BCB4F37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80D23-5577-48A9-BB01-E4AB4B9E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LUMENCORE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TARGET 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3BF53-F49B-41DA-B99C-73CD12AE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552700" cy="29718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0AD7-BC80-465A-B0F1-A56ACE9B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DISTINCTIVE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46843-8B5B-48F7-92DF-4077A0A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2019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Past-only replay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Frozen baseline and metric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Visible negatives and abstention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custody receipt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Human release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60D44-8CB1-4862-B364-D251FF3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293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Positioning hypothesis; not a market-share or superiority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79862-78F2-42D8-9FD8-C4535FF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F0175-1F8F-42F3-8555-526F319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564095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DE500-5E34-4BE8-BBBD-DCD2CB5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64644-C96A-44F8-B1CF-77454F5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 one hard problem, prove it, then expand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8433A-BC97-48FE-BE25-B114720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E93D4-194A-491A-9486-8C335CEE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342A-9FE1-4C7E-B8A6-3D18A89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near-term objective is one serious design partner with controlled data and an accepted incumbent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01D9B-60CF-4C28-9C91-8B94F33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11082-9A06-43B3-8A55-2B2AF8A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A913C-40C9-4907-8AB4-F7D3208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10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10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8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84FC8-5DA2-4C17-A479-630FCE2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24336-CC85-47FE-A07E-8A1C092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E9910-0DC3-4671-B7A4-B7F9263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Confirm the owner, decision, data rights, baseline, cost of error, and approval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162AB-9B9C-4A91-B760-784E408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Gate: written problem +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E1D67-FF2E-41E2-A401-1DCBB7A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9F612-D348-4299-8B34-AB37FD7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6A5DA-DC23-4C8A-B5DD-EED5991D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Run a preregistered replay on buyer-controlled data and preserve every favorable and unfavorable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5CAAB-D8DA-4196-B4AA-F5A918E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Gate: accepted evidence receipt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51075-8E4C-4CEE-A624-90AD412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497C8-6B72-4717-838C-9438AA1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8BDE7-5B41-4200-84E6-FB16869E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Convert the accepted pilot into repeatable workflows, annual support, and adjacent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67083-A157-4B68-A0A8-924CA17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Gate: paid renewal or license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85B64-68FE-4C62-B30A-E0227C28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FDBDE-31F6-4F27-A5AE-3ADFA7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QUALIFICATION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83099-25CD-4F84-9ED2-26C5D361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817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Named owner  |  accepted baseline  |  controlled dataset  |  written acceptance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C0727-2887-46DB-8D08-FE0EC29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226E1-7A0E-453D-87F2-52E337BD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988580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PILOT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 paid pilot is defined by acceptance, not a sales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 SUPPLIES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Controlled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Named decision owner and operating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Lawfully controlled data with allowed-use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Accepted incumbent baseline and 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Written cost-of-error and acceptance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Inputs define the decision contract before any pilot price, schedule, or outcome is represented.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LUMENCORE RETURNS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Auditable receipt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Frozen configuration and custody receipt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Past-only replay against the accepted baseline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Favorable, neutral, negative, and invalid outcomes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Human-owned next decision with no automatic 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savings, ROI, or field-performance claim before a buyer-controlled result.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TEAM + PRIZE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 $10,000 prize would buy buyer-ready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FOUNDER + COMPANY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What is established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Robert Ashworth | founder and systems architect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Working software, custody, and frozen protocols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Company and Tennessee eligibility require founder confirmation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No customer, contract, revenue, or financing claim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Upload remains blocked until legal entity, Tennessee eligibility, team, and company-stage facts are founder-confirmed.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$10K PRIZE 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What the prize would fund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Outcome-independent protocol reproduction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Buyer-controlled dataset integration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Security and compliance preparation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Pilot acceptance-test and receipt package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Competition ask: $10,000 prize. No equity raise, valuation, financing term, or spend is authorized by this deck.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64548-999C-481B-996D-EF2E3D2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47B07-C377-4BBC-8EFD-1A71AD2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THE 3686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DF36F-8BFB-4CC4-8698-C019263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Help LumenCore earn its first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proof receipt.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1358-9C60-4661-B346-335FC5E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634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8D1D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1D6"/>
                </a:solidFill>
                <a:latin typeface="Aptos"/>
                <a:ea typeface="Aptos"/>
                <a:cs typeface="Aptos"/>
              </a:rPr>
              <a:t>The next milestone is not a louder claim. It is one named buyer, one accepted baseline, one controlled dataset, and one result a third party can reproduce.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80BF2-F987-4288-920F-A4F4956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19150"/>
            <a:ext cx="3981450" cy="457200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71E23"/>
          </a:solidFill>
          <a:ln xmlns:a="http://schemas.openxmlformats.org/drawingml/2006/main" w="9525">
            <a:solidFill>
              <a:srgbClr val="3B47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D164F-9E19-4D54-99FD-7261DE68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62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WHAT WE ASK FROM 3686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6148-5208-46F7-B7D3-E19DB85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32E76-83A2-43F5-B3CA-B1F64DF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fair hearing for the $10,000 pitch prize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3E3A-3450-4185-B37C-31EFD15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1645D-6031-4D5D-90A4-1E496A3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9F8E1-29A4-4942-9B22-D1ED496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 and design-partner introductions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FCD89-38B0-4869-9106-7A2CC37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0E294-B623-4418-8A95-A3C6276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FE8B6-8FEC-40F1-BFFB-2E678CB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 outcome-independent evaluator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4D9A0-1EBD-48F2-8667-0E8D28F1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A0BB4-47FD-4F38-8A58-92B2B0B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121B4-D110-490A-A24B-9C42E04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Pilot-scope discipline after written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C354F-1621-41AA-AEF7-DF92EB8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Robert Ashworth | Founder, LumenCore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89F57-9E98-40B1-B374-3F9AB4A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Current software and protocol evidence. No external performance claim.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16BB2-3E3A-4012-90A9-00DD9645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3686 PITCH REVIEW COPY | 2026-07-29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DB31E-2BAD-4DB9-82EE-17788C29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538964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2026-07-29T15:38:26.3390000Z</dcterms:created>
  <dcterms:modified xsi:type="dcterms:W3CDTF">2026-07-29T15:38:26.3400000Z</dcterms:modified>
</coreProperties>
</file>