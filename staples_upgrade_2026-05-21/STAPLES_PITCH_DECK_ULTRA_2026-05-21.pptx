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E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07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3F8FF"/>
                </a:solidFill>
              </a:defRPr>
            </a:pPr>
            <a:r>
              <a:t>LUMENCORE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B4CDE0"/>
                </a:solidFill>
              </a:defRPr>
            </a:pPr>
            <a:r>
              <a:t>Geometric and holographic command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377440"/>
            <a:ext cx="1042416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3F8FF"/>
                </a:solidFill>
              </a:defRPr>
            </a:pPr>
            <a:r>
              <a:t>- 52.33B USD annual preserved-value surface</a:t>
            </a:r>
          </a:p>
          <a:p>
            <a:pPr>
              <a:defRPr sz="2200">
                <a:solidFill>
                  <a:srgbClr val="F3F8FF"/>
                </a:solidFill>
              </a:defRPr>
            </a:pPr>
            <a:r>
              <a:t>- 17/17 measured source coverage</a:t>
            </a:r>
          </a:p>
          <a:p>
            <a:pPr>
              <a:defRPr sz="2200">
                <a:solidFill>
                  <a:srgbClr val="F3F8FF"/>
                </a:solidFill>
              </a:defRPr>
            </a:pPr>
            <a:r>
              <a:t>- Institutional and federal proof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E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07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3F8FF"/>
                </a:solidFill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B4CDE0"/>
                </a:solidFill>
              </a:defRPr>
            </a:pPr>
            <a:r>
              <a:t>Sense -&gt; Score -&gt; Control -&gt; Prove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377440"/>
            <a:ext cx="1042416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3F8FF"/>
                </a:solidFill>
              </a:defRPr>
            </a:pPr>
            <a:r>
              <a:t>- Live ingestion and ranking</a:t>
            </a:r>
          </a:p>
          <a:p>
            <a:pPr>
              <a:defRPr sz="2200">
                <a:solidFill>
                  <a:srgbClr val="F3F8FF"/>
                </a:solidFill>
              </a:defRPr>
            </a:pPr>
            <a:r>
              <a:t>- Operator-safe action lanes</a:t>
            </a:r>
          </a:p>
          <a:p>
            <a:pPr>
              <a:defRPr sz="2200">
                <a:solidFill>
                  <a:srgbClr val="F3F8FF"/>
                </a:solidFill>
              </a:defRPr>
            </a:pPr>
            <a:r>
              <a:t>- Evidence and chain-of-custody outputs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E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07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3F8FF"/>
                </a:solidFill>
              </a:defRPr>
            </a:pPr>
            <a:r>
              <a:t>Valuation and Licensing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B4CDE0"/>
                </a:solidFill>
              </a:defRPr>
            </a:pPr>
            <a:r>
              <a:t>Compounding 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377440"/>
            <a:ext cx="1042416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3F8FF"/>
                </a:solidFill>
              </a:defRPr>
            </a:pPr>
            <a:r>
              <a:t>- Conservative: 35M to 70M</a:t>
            </a:r>
          </a:p>
          <a:p>
            <a:pPr>
              <a:defRPr sz="2200">
                <a:solidFill>
                  <a:srgbClr val="F3F8FF"/>
                </a:solidFill>
              </a:defRPr>
            </a:pPr>
            <a:r>
              <a:t>- Base: 80M to 180M</a:t>
            </a:r>
          </a:p>
          <a:p>
            <a:pPr>
              <a:defRPr sz="2200">
                <a:solidFill>
                  <a:srgbClr val="F3F8FF"/>
                </a:solidFill>
              </a:defRPr>
            </a:pPr>
            <a:r>
              <a:t>- Upside: 220M to 450M</a:t>
            </a:r>
          </a:p>
          <a:p>
            <a:pPr>
              <a:defRPr sz="2200">
                <a:solidFill>
                  <a:srgbClr val="F3F8FF"/>
                </a:solidFill>
              </a:defRPr>
            </a:pPr>
            <a:r>
              <a:t>- SaaS + licensing + mission control deployments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E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07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3F8FF"/>
                </a:solidFill>
              </a:defRPr>
            </a:pPr>
            <a:r>
              <a:t>Call To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B4CDE0"/>
                </a:solidFill>
              </a:defRPr>
            </a:pPr>
            <a:r>
              <a:t>Book diligence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377440"/>
            <a:ext cx="1042416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3F8FF"/>
                </a:solidFill>
              </a:defRPr>
            </a:pPr>
            <a:r>
              <a:t>- 20-minute investor walkthrough</a:t>
            </a:r>
          </a:p>
          <a:p>
            <a:pPr>
              <a:defRPr sz="2200">
                <a:solidFill>
                  <a:srgbClr val="F3F8FF"/>
                </a:solidFill>
              </a:defRPr>
            </a:pPr>
            <a:r>
              <a:t>- Partner integration scoping</a:t>
            </a:r>
          </a:p>
          <a:p>
            <a:pPr>
              <a:defRPr sz="2200">
                <a:solidFill>
                  <a:srgbClr val="F3F8FF"/>
                </a:solidFill>
              </a:defRPr>
            </a:pPr>
            <a:r>
              <a:t>- Pilot conversion this week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